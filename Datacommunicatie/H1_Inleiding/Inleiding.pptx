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60" r:id="rId5"/>
    <p:sldId id="259" r:id="rId6"/>
    <p:sldId id="261" r:id="rId7"/>
    <p:sldId id="262" r:id="rId8"/>
    <p:sldId id="266" r:id="rId9"/>
    <p:sldId id="263" r:id="rId10"/>
    <p:sldId id="267" r:id="rId11"/>
    <p:sldId id="264" r:id="rId12"/>
    <p:sldId id="268" r:id="rId13"/>
    <p:sldId id="265" r:id="rId14"/>
    <p:sldId id="269" r:id="rId15"/>
    <p:sldId id="270" r:id="rId16"/>
    <p:sldId id="271" r:id="rId17"/>
    <p:sldId id="275" r:id="rId18"/>
    <p:sldId id="272" r:id="rId19"/>
    <p:sldId id="276" r:id="rId20"/>
    <p:sldId id="273" r:id="rId21"/>
    <p:sldId id="277" r:id="rId22"/>
    <p:sldId id="274"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7" r:id="rId41"/>
    <p:sldId id="298" r:id="rId42"/>
    <p:sldId id="296" r:id="rId43"/>
    <p:sldId id="299" r:id="rId44"/>
    <p:sldId id="300" r:id="rId45"/>
    <p:sldId id="301" r:id="rId46"/>
    <p:sldId id="302" r:id="rId47"/>
    <p:sldId id="303" r:id="rId48"/>
    <p:sldId id="304" r:id="rId4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665" autoAdjust="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FC5DEE-6A3F-4597-A0D1-3DCB2F8F28A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FE808F-7575-44A3-9B18-ABFD41CE73BC}">
      <dgm:prSet/>
      <dgm:spPr/>
      <dgm:t>
        <a:bodyPr/>
        <a:lstStyle/>
        <a:p>
          <a:r>
            <a:rPr lang="en-US"/>
            <a:t>Packet switching</a:t>
          </a:r>
        </a:p>
      </dgm:t>
    </dgm:pt>
    <dgm:pt modelId="{31536492-D3A3-417B-A419-5427008B1E13}" type="parTrans" cxnId="{12C58F29-BF9B-4693-8A96-F59829EE20D1}">
      <dgm:prSet/>
      <dgm:spPr/>
      <dgm:t>
        <a:bodyPr/>
        <a:lstStyle/>
        <a:p>
          <a:endParaRPr lang="en-US"/>
        </a:p>
      </dgm:t>
    </dgm:pt>
    <dgm:pt modelId="{88C202BA-694C-46CE-BF7B-052CD79C83C4}" type="sibTrans" cxnId="{12C58F29-BF9B-4693-8A96-F59829EE20D1}">
      <dgm:prSet/>
      <dgm:spPr/>
      <dgm:t>
        <a:bodyPr/>
        <a:lstStyle/>
        <a:p>
          <a:endParaRPr lang="en-US"/>
        </a:p>
      </dgm:t>
    </dgm:pt>
    <dgm:pt modelId="{3BE06AC8-A1E2-4117-B3D1-8886C4D89387}">
      <dgm:prSet/>
      <dgm:spPr/>
      <dgm:t>
        <a:bodyPr/>
        <a:lstStyle/>
        <a:p>
          <a:r>
            <a:rPr lang="en-US"/>
            <a:t>Circuit Switching</a:t>
          </a:r>
        </a:p>
      </dgm:t>
    </dgm:pt>
    <dgm:pt modelId="{95F7F33E-5F23-439A-9BB2-5745443E0E0B}" type="parTrans" cxnId="{C7B38DCC-566D-4001-9724-D3BF3F476C9E}">
      <dgm:prSet/>
      <dgm:spPr/>
      <dgm:t>
        <a:bodyPr/>
        <a:lstStyle/>
        <a:p>
          <a:endParaRPr lang="en-US"/>
        </a:p>
      </dgm:t>
    </dgm:pt>
    <dgm:pt modelId="{BFEBBEC3-D06E-44B7-A0A5-BBFD9901CC6F}" type="sibTrans" cxnId="{C7B38DCC-566D-4001-9724-D3BF3F476C9E}">
      <dgm:prSet/>
      <dgm:spPr/>
      <dgm:t>
        <a:bodyPr/>
        <a:lstStyle/>
        <a:p>
          <a:endParaRPr lang="en-US"/>
        </a:p>
      </dgm:t>
    </dgm:pt>
    <dgm:pt modelId="{86D95C71-D986-4FDB-A563-95F8D9D88190}">
      <dgm:prSet/>
      <dgm:spPr/>
      <dgm:t>
        <a:bodyPr/>
        <a:lstStyle/>
        <a:p>
          <a:r>
            <a:rPr lang="en-US"/>
            <a:t>Message Switching</a:t>
          </a:r>
        </a:p>
      </dgm:t>
    </dgm:pt>
    <dgm:pt modelId="{279750F1-645E-4D7C-8833-F6187C51378D}" type="parTrans" cxnId="{72660F02-487F-49FF-BBC8-B06F1D023C02}">
      <dgm:prSet/>
      <dgm:spPr/>
      <dgm:t>
        <a:bodyPr/>
        <a:lstStyle/>
        <a:p>
          <a:endParaRPr lang="en-US"/>
        </a:p>
      </dgm:t>
    </dgm:pt>
    <dgm:pt modelId="{1A26661A-1EA0-4C04-9AB5-E7EC26483F0A}" type="sibTrans" cxnId="{72660F02-487F-49FF-BBC8-B06F1D023C02}">
      <dgm:prSet/>
      <dgm:spPr/>
      <dgm:t>
        <a:bodyPr/>
        <a:lstStyle/>
        <a:p>
          <a:endParaRPr lang="en-US"/>
        </a:p>
      </dgm:t>
    </dgm:pt>
    <dgm:pt modelId="{F3B709ED-6180-4853-A021-B12C5604BB65}" type="pres">
      <dgm:prSet presAssocID="{E1FC5DEE-6A3F-4597-A0D1-3DCB2F8F28AD}" presName="root" presStyleCnt="0">
        <dgm:presLayoutVars>
          <dgm:dir/>
          <dgm:resizeHandles val="exact"/>
        </dgm:presLayoutVars>
      </dgm:prSet>
      <dgm:spPr/>
    </dgm:pt>
    <dgm:pt modelId="{A7998A41-E7A4-459D-B12A-D72AF352307B}" type="pres">
      <dgm:prSet presAssocID="{9FFE808F-7575-44A3-9B18-ABFD41CE73BC}" presName="compNode" presStyleCnt="0"/>
      <dgm:spPr/>
    </dgm:pt>
    <dgm:pt modelId="{09FDCAF0-A1E6-4BE6-9E84-B25BBB412026}" type="pres">
      <dgm:prSet presAssocID="{9FFE808F-7575-44A3-9B18-ABFD41CE73B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41CA237C-6AE5-4804-A472-C014D4B6EFD5}" type="pres">
      <dgm:prSet presAssocID="{9FFE808F-7575-44A3-9B18-ABFD41CE73BC}" presName="spaceRect" presStyleCnt="0"/>
      <dgm:spPr/>
    </dgm:pt>
    <dgm:pt modelId="{5E66E928-E756-4359-AB78-F6961EFA1FB7}" type="pres">
      <dgm:prSet presAssocID="{9FFE808F-7575-44A3-9B18-ABFD41CE73BC}" presName="textRect" presStyleLbl="revTx" presStyleIdx="0" presStyleCnt="3">
        <dgm:presLayoutVars>
          <dgm:chMax val="1"/>
          <dgm:chPref val="1"/>
        </dgm:presLayoutVars>
      </dgm:prSet>
      <dgm:spPr/>
    </dgm:pt>
    <dgm:pt modelId="{1BD1DF93-DDA9-4855-8BB7-4FB36264EEDC}" type="pres">
      <dgm:prSet presAssocID="{88C202BA-694C-46CE-BF7B-052CD79C83C4}" presName="sibTrans" presStyleCnt="0"/>
      <dgm:spPr/>
    </dgm:pt>
    <dgm:pt modelId="{E479A26E-AC8F-4698-B25B-17F29737AB93}" type="pres">
      <dgm:prSet presAssocID="{3BE06AC8-A1E2-4117-B3D1-8886C4D89387}" presName="compNode" presStyleCnt="0"/>
      <dgm:spPr/>
    </dgm:pt>
    <dgm:pt modelId="{E235CA41-F2D6-4DF2-AD28-CA4FB0E32324}" type="pres">
      <dgm:prSet presAssocID="{3BE06AC8-A1E2-4117-B3D1-8886C4D8938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ED2F2C6E-7690-4D5E-A92F-54608D8FAC5C}" type="pres">
      <dgm:prSet presAssocID="{3BE06AC8-A1E2-4117-B3D1-8886C4D89387}" presName="spaceRect" presStyleCnt="0"/>
      <dgm:spPr/>
    </dgm:pt>
    <dgm:pt modelId="{0B012AD2-677F-4BEC-9A1C-006D7BC13545}" type="pres">
      <dgm:prSet presAssocID="{3BE06AC8-A1E2-4117-B3D1-8886C4D89387}" presName="textRect" presStyleLbl="revTx" presStyleIdx="1" presStyleCnt="3">
        <dgm:presLayoutVars>
          <dgm:chMax val="1"/>
          <dgm:chPref val="1"/>
        </dgm:presLayoutVars>
      </dgm:prSet>
      <dgm:spPr/>
    </dgm:pt>
    <dgm:pt modelId="{F8C8C215-B96E-419A-A599-8EA031B8A473}" type="pres">
      <dgm:prSet presAssocID="{BFEBBEC3-D06E-44B7-A0A5-BBFD9901CC6F}" presName="sibTrans" presStyleCnt="0"/>
      <dgm:spPr/>
    </dgm:pt>
    <dgm:pt modelId="{D3071E10-CF6D-4C30-84B5-B53000E894B2}" type="pres">
      <dgm:prSet presAssocID="{86D95C71-D986-4FDB-A563-95F8D9D88190}" presName="compNode" presStyleCnt="0"/>
      <dgm:spPr/>
    </dgm:pt>
    <dgm:pt modelId="{9E82B594-29CA-46C6-BDA0-45E0D8989FED}" type="pres">
      <dgm:prSet presAssocID="{86D95C71-D986-4FDB-A563-95F8D9D8819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EE10E138-D5D3-4091-B389-7FF7D2395369}" type="pres">
      <dgm:prSet presAssocID="{86D95C71-D986-4FDB-A563-95F8D9D88190}" presName="spaceRect" presStyleCnt="0"/>
      <dgm:spPr/>
    </dgm:pt>
    <dgm:pt modelId="{CB93C229-DBAE-46DC-AF42-7FE6290169A4}" type="pres">
      <dgm:prSet presAssocID="{86D95C71-D986-4FDB-A563-95F8D9D88190}" presName="textRect" presStyleLbl="revTx" presStyleIdx="2" presStyleCnt="3">
        <dgm:presLayoutVars>
          <dgm:chMax val="1"/>
          <dgm:chPref val="1"/>
        </dgm:presLayoutVars>
      </dgm:prSet>
      <dgm:spPr/>
    </dgm:pt>
  </dgm:ptLst>
  <dgm:cxnLst>
    <dgm:cxn modelId="{72660F02-487F-49FF-BBC8-B06F1D023C02}" srcId="{E1FC5DEE-6A3F-4597-A0D1-3DCB2F8F28AD}" destId="{86D95C71-D986-4FDB-A563-95F8D9D88190}" srcOrd="2" destOrd="0" parTransId="{279750F1-645E-4D7C-8833-F6187C51378D}" sibTransId="{1A26661A-1EA0-4C04-9AB5-E7EC26483F0A}"/>
    <dgm:cxn modelId="{9FAA4D02-C951-48E4-85A0-A859F402CD5E}" type="presOf" srcId="{3BE06AC8-A1E2-4117-B3D1-8886C4D89387}" destId="{0B012AD2-677F-4BEC-9A1C-006D7BC13545}" srcOrd="0" destOrd="0" presId="urn:microsoft.com/office/officeart/2018/2/layout/IconLabelList"/>
    <dgm:cxn modelId="{12C58F29-BF9B-4693-8A96-F59829EE20D1}" srcId="{E1FC5DEE-6A3F-4597-A0D1-3DCB2F8F28AD}" destId="{9FFE808F-7575-44A3-9B18-ABFD41CE73BC}" srcOrd="0" destOrd="0" parTransId="{31536492-D3A3-417B-A419-5427008B1E13}" sibTransId="{88C202BA-694C-46CE-BF7B-052CD79C83C4}"/>
    <dgm:cxn modelId="{799A595E-074E-45B3-AB87-0C76807E3151}" type="presOf" srcId="{86D95C71-D986-4FDB-A563-95F8D9D88190}" destId="{CB93C229-DBAE-46DC-AF42-7FE6290169A4}" srcOrd="0" destOrd="0" presId="urn:microsoft.com/office/officeart/2018/2/layout/IconLabelList"/>
    <dgm:cxn modelId="{A4B386B6-04A6-4981-8278-49566BD18ADF}" type="presOf" srcId="{E1FC5DEE-6A3F-4597-A0D1-3DCB2F8F28AD}" destId="{F3B709ED-6180-4853-A021-B12C5604BB65}" srcOrd="0" destOrd="0" presId="urn:microsoft.com/office/officeart/2018/2/layout/IconLabelList"/>
    <dgm:cxn modelId="{C7B38DCC-566D-4001-9724-D3BF3F476C9E}" srcId="{E1FC5DEE-6A3F-4597-A0D1-3DCB2F8F28AD}" destId="{3BE06AC8-A1E2-4117-B3D1-8886C4D89387}" srcOrd="1" destOrd="0" parTransId="{95F7F33E-5F23-439A-9BB2-5745443E0E0B}" sibTransId="{BFEBBEC3-D06E-44B7-A0A5-BBFD9901CC6F}"/>
    <dgm:cxn modelId="{174FC5CE-A42D-4B9C-A5E7-ECF14981560E}" type="presOf" srcId="{9FFE808F-7575-44A3-9B18-ABFD41CE73BC}" destId="{5E66E928-E756-4359-AB78-F6961EFA1FB7}" srcOrd="0" destOrd="0" presId="urn:microsoft.com/office/officeart/2018/2/layout/IconLabelList"/>
    <dgm:cxn modelId="{C4CB6E65-BA42-425C-9765-6005E77E68B6}" type="presParOf" srcId="{F3B709ED-6180-4853-A021-B12C5604BB65}" destId="{A7998A41-E7A4-459D-B12A-D72AF352307B}" srcOrd="0" destOrd="0" presId="urn:microsoft.com/office/officeart/2018/2/layout/IconLabelList"/>
    <dgm:cxn modelId="{2D251A82-3259-4B56-8C64-3291BDC56A6C}" type="presParOf" srcId="{A7998A41-E7A4-459D-B12A-D72AF352307B}" destId="{09FDCAF0-A1E6-4BE6-9E84-B25BBB412026}" srcOrd="0" destOrd="0" presId="urn:microsoft.com/office/officeart/2018/2/layout/IconLabelList"/>
    <dgm:cxn modelId="{0CBF11C7-81EF-46ED-854B-D45141D2B47A}" type="presParOf" srcId="{A7998A41-E7A4-459D-B12A-D72AF352307B}" destId="{41CA237C-6AE5-4804-A472-C014D4B6EFD5}" srcOrd="1" destOrd="0" presId="urn:microsoft.com/office/officeart/2018/2/layout/IconLabelList"/>
    <dgm:cxn modelId="{8F3CF394-07AC-45A9-8AD5-3038304AD76F}" type="presParOf" srcId="{A7998A41-E7A4-459D-B12A-D72AF352307B}" destId="{5E66E928-E756-4359-AB78-F6961EFA1FB7}" srcOrd="2" destOrd="0" presId="urn:microsoft.com/office/officeart/2018/2/layout/IconLabelList"/>
    <dgm:cxn modelId="{ECA7039B-1EC6-4702-AF4C-C542DA39EF26}" type="presParOf" srcId="{F3B709ED-6180-4853-A021-B12C5604BB65}" destId="{1BD1DF93-DDA9-4855-8BB7-4FB36264EEDC}" srcOrd="1" destOrd="0" presId="urn:microsoft.com/office/officeart/2018/2/layout/IconLabelList"/>
    <dgm:cxn modelId="{609ACCE7-9F2E-41FD-97F4-2705C678172A}" type="presParOf" srcId="{F3B709ED-6180-4853-A021-B12C5604BB65}" destId="{E479A26E-AC8F-4698-B25B-17F29737AB93}" srcOrd="2" destOrd="0" presId="urn:microsoft.com/office/officeart/2018/2/layout/IconLabelList"/>
    <dgm:cxn modelId="{945BCB77-C261-42C5-AD9C-678BBE945AC8}" type="presParOf" srcId="{E479A26E-AC8F-4698-B25B-17F29737AB93}" destId="{E235CA41-F2D6-4DF2-AD28-CA4FB0E32324}" srcOrd="0" destOrd="0" presId="urn:microsoft.com/office/officeart/2018/2/layout/IconLabelList"/>
    <dgm:cxn modelId="{14AC7EE5-6FB2-4C37-928F-C4CDBF68A60C}" type="presParOf" srcId="{E479A26E-AC8F-4698-B25B-17F29737AB93}" destId="{ED2F2C6E-7690-4D5E-A92F-54608D8FAC5C}" srcOrd="1" destOrd="0" presId="urn:microsoft.com/office/officeart/2018/2/layout/IconLabelList"/>
    <dgm:cxn modelId="{99EC6FD4-8F59-4425-9ECF-EDCDDFFF11DB}" type="presParOf" srcId="{E479A26E-AC8F-4698-B25B-17F29737AB93}" destId="{0B012AD2-677F-4BEC-9A1C-006D7BC13545}" srcOrd="2" destOrd="0" presId="urn:microsoft.com/office/officeart/2018/2/layout/IconLabelList"/>
    <dgm:cxn modelId="{0784E846-3CC8-4A47-8E99-4D08C06B2C1F}" type="presParOf" srcId="{F3B709ED-6180-4853-A021-B12C5604BB65}" destId="{F8C8C215-B96E-419A-A599-8EA031B8A473}" srcOrd="3" destOrd="0" presId="urn:microsoft.com/office/officeart/2018/2/layout/IconLabelList"/>
    <dgm:cxn modelId="{08FE006B-8F15-4ED3-8833-774ADA0CEA53}" type="presParOf" srcId="{F3B709ED-6180-4853-A021-B12C5604BB65}" destId="{D3071E10-CF6D-4C30-84B5-B53000E894B2}" srcOrd="4" destOrd="0" presId="urn:microsoft.com/office/officeart/2018/2/layout/IconLabelList"/>
    <dgm:cxn modelId="{388579A7-5EF1-413C-99A6-E24859BE4301}" type="presParOf" srcId="{D3071E10-CF6D-4C30-84B5-B53000E894B2}" destId="{9E82B594-29CA-46C6-BDA0-45E0D8989FED}" srcOrd="0" destOrd="0" presId="urn:microsoft.com/office/officeart/2018/2/layout/IconLabelList"/>
    <dgm:cxn modelId="{5CEECFB8-5FD8-4DD7-9844-3610BB0C4166}" type="presParOf" srcId="{D3071E10-CF6D-4C30-84B5-B53000E894B2}" destId="{EE10E138-D5D3-4091-B389-7FF7D2395369}" srcOrd="1" destOrd="0" presId="urn:microsoft.com/office/officeart/2018/2/layout/IconLabelList"/>
    <dgm:cxn modelId="{508BB5B2-C752-45D8-8B72-2DC373D5C678}" type="presParOf" srcId="{D3071E10-CF6D-4C30-84B5-B53000E894B2}" destId="{CB93C229-DBAE-46DC-AF42-7FE6290169A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2BE07C-2450-4B72-A0CC-55A8F9DB554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AC03938-FDB1-408B-ADD7-79AD8519305C}">
      <dgm:prSet/>
      <dgm:spPr/>
      <dgm:t>
        <a:bodyPr/>
        <a:lstStyle/>
        <a:p>
          <a:pPr>
            <a:defRPr cap="all"/>
          </a:pPr>
          <a:r>
            <a:rPr lang="en-US"/>
            <a:t>Time-out methode</a:t>
          </a:r>
        </a:p>
      </dgm:t>
    </dgm:pt>
    <dgm:pt modelId="{62C4474D-79C7-4657-A295-56201F8E6A73}" type="parTrans" cxnId="{33CCEC98-5857-49B3-92CC-A1293B6E27A3}">
      <dgm:prSet/>
      <dgm:spPr/>
      <dgm:t>
        <a:bodyPr/>
        <a:lstStyle/>
        <a:p>
          <a:endParaRPr lang="en-US"/>
        </a:p>
      </dgm:t>
    </dgm:pt>
    <dgm:pt modelId="{7FB47740-3FD0-4216-82DA-0CCD18DA665B}" type="sibTrans" cxnId="{33CCEC98-5857-49B3-92CC-A1293B6E27A3}">
      <dgm:prSet/>
      <dgm:spPr/>
      <dgm:t>
        <a:bodyPr/>
        <a:lstStyle/>
        <a:p>
          <a:endParaRPr lang="en-US"/>
        </a:p>
      </dgm:t>
    </dgm:pt>
    <dgm:pt modelId="{D9504EE9-7393-4AB3-B670-C9444BE704A0}">
      <dgm:prSet/>
      <dgm:spPr/>
      <dgm:t>
        <a:bodyPr/>
        <a:lstStyle/>
        <a:p>
          <a:pPr>
            <a:defRPr cap="all"/>
          </a:pPr>
          <a:r>
            <a:rPr lang="en-US"/>
            <a:t>Byte-count methode</a:t>
          </a:r>
        </a:p>
      </dgm:t>
    </dgm:pt>
    <dgm:pt modelId="{188AFDFC-A9E7-48FE-9723-552BE3CC2FD1}" type="parTrans" cxnId="{253D999E-B9CF-46E4-A8AB-11B90BF3D60F}">
      <dgm:prSet/>
      <dgm:spPr/>
      <dgm:t>
        <a:bodyPr/>
        <a:lstStyle/>
        <a:p>
          <a:endParaRPr lang="en-US"/>
        </a:p>
      </dgm:t>
    </dgm:pt>
    <dgm:pt modelId="{9D62CB54-8B89-415D-A096-7BE013B2A8CF}" type="sibTrans" cxnId="{253D999E-B9CF-46E4-A8AB-11B90BF3D60F}">
      <dgm:prSet/>
      <dgm:spPr/>
      <dgm:t>
        <a:bodyPr/>
        <a:lstStyle/>
        <a:p>
          <a:endParaRPr lang="en-US"/>
        </a:p>
      </dgm:t>
    </dgm:pt>
    <dgm:pt modelId="{A901C675-9FC4-443E-ACFD-0CA0D44371BB}">
      <dgm:prSet/>
      <dgm:spPr/>
      <dgm:t>
        <a:bodyPr/>
        <a:lstStyle/>
        <a:p>
          <a:pPr>
            <a:defRPr cap="all"/>
          </a:pPr>
          <a:r>
            <a:rPr lang="en-US"/>
            <a:t>End-of-message methode</a:t>
          </a:r>
        </a:p>
      </dgm:t>
    </dgm:pt>
    <dgm:pt modelId="{4FCE7138-12E8-4975-BEBB-6B9BE79BE8EF}" type="parTrans" cxnId="{DC2633EB-1FAE-4DA1-A493-2F83A4305D99}">
      <dgm:prSet/>
      <dgm:spPr/>
      <dgm:t>
        <a:bodyPr/>
        <a:lstStyle/>
        <a:p>
          <a:endParaRPr lang="en-US"/>
        </a:p>
      </dgm:t>
    </dgm:pt>
    <dgm:pt modelId="{8DD2882D-69C1-47E5-8D10-9F43E504783E}" type="sibTrans" cxnId="{DC2633EB-1FAE-4DA1-A493-2F83A4305D99}">
      <dgm:prSet/>
      <dgm:spPr/>
      <dgm:t>
        <a:bodyPr/>
        <a:lstStyle/>
        <a:p>
          <a:endParaRPr lang="en-US"/>
        </a:p>
      </dgm:t>
    </dgm:pt>
    <dgm:pt modelId="{B589627A-3085-453A-A9E0-CD75C846BDE1}" type="pres">
      <dgm:prSet presAssocID="{6C2BE07C-2450-4B72-A0CC-55A8F9DB5540}" presName="root" presStyleCnt="0">
        <dgm:presLayoutVars>
          <dgm:dir/>
          <dgm:resizeHandles val="exact"/>
        </dgm:presLayoutVars>
      </dgm:prSet>
      <dgm:spPr/>
    </dgm:pt>
    <dgm:pt modelId="{FCC8664E-57DE-48FA-A384-305B4F0EB527}" type="pres">
      <dgm:prSet presAssocID="{5AC03938-FDB1-408B-ADD7-79AD8519305C}" presName="compNode" presStyleCnt="0"/>
      <dgm:spPr/>
    </dgm:pt>
    <dgm:pt modelId="{820632AF-04F9-4526-9A09-516BFA21D6DB}" type="pres">
      <dgm:prSet presAssocID="{5AC03938-FDB1-408B-ADD7-79AD8519305C}" presName="iconBgRect" presStyleLbl="bgShp" presStyleIdx="0" presStyleCnt="3"/>
      <dgm:spPr/>
    </dgm:pt>
    <dgm:pt modelId="{AA15FEB9-BE6B-4C4D-8452-A3E859AEAD17}" type="pres">
      <dgm:prSet presAssocID="{5AC03938-FDB1-408B-ADD7-79AD8519305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rglass"/>
        </a:ext>
      </dgm:extLst>
    </dgm:pt>
    <dgm:pt modelId="{FFCB427D-B1FA-4817-820B-E3407D5000B2}" type="pres">
      <dgm:prSet presAssocID="{5AC03938-FDB1-408B-ADD7-79AD8519305C}" presName="spaceRect" presStyleCnt="0"/>
      <dgm:spPr/>
    </dgm:pt>
    <dgm:pt modelId="{C01D7369-64B3-4E97-BC7A-4A27E1D13DF7}" type="pres">
      <dgm:prSet presAssocID="{5AC03938-FDB1-408B-ADD7-79AD8519305C}" presName="textRect" presStyleLbl="revTx" presStyleIdx="0" presStyleCnt="3">
        <dgm:presLayoutVars>
          <dgm:chMax val="1"/>
          <dgm:chPref val="1"/>
        </dgm:presLayoutVars>
      </dgm:prSet>
      <dgm:spPr/>
    </dgm:pt>
    <dgm:pt modelId="{9BD1612F-846E-4160-AB5B-EFFD46E09FD6}" type="pres">
      <dgm:prSet presAssocID="{7FB47740-3FD0-4216-82DA-0CCD18DA665B}" presName="sibTrans" presStyleCnt="0"/>
      <dgm:spPr/>
    </dgm:pt>
    <dgm:pt modelId="{ACAE80DD-BF5A-4150-A1AA-0A44C6BE79FD}" type="pres">
      <dgm:prSet presAssocID="{D9504EE9-7393-4AB3-B670-C9444BE704A0}" presName="compNode" presStyleCnt="0"/>
      <dgm:spPr/>
    </dgm:pt>
    <dgm:pt modelId="{E2209623-0DBA-42D8-9940-B78FF75390FE}" type="pres">
      <dgm:prSet presAssocID="{D9504EE9-7393-4AB3-B670-C9444BE704A0}" presName="iconBgRect" presStyleLbl="bgShp" presStyleIdx="1" presStyleCnt="3"/>
      <dgm:spPr/>
    </dgm:pt>
    <dgm:pt modelId="{7D69FA20-FE61-435A-9FE5-46018C43825F}" type="pres">
      <dgm:prSet presAssocID="{D9504EE9-7393-4AB3-B670-C9444BE704A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0E12F21A-06C3-4F64-9304-3DA4869E5077}" type="pres">
      <dgm:prSet presAssocID="{D9504EE9-7393-4AB3-B670-C9444BE704A0}" presName="spaceRect" presStyleCnt="0"/>
      <dgm:spPr/>
    </dgm:pt>
    <dgm:pt modelId="{450F78DD-8AAB-40DE-AFC2-AC37103C22F0}" type="pres">
      <dgm:prSet presAssocID="{D9504EE9-7393-4AB3-B670-C9444BE704A0}" presName="textRect" presStyleLbl="revTx" presStyleIdx="1" presStyleCnt="3">
        <dgm:presLayoutVars>
          <dgm:chMax val="1"/>
          <dgm:chPref val="1"/>
        </dgm:presLayoutVars>
      </dgm:prSet>
      <dgm:spPr/>
    </dgm:pt>
    <dgm:pt modelId="{94D414F8-7402-4FBF-AA2F-5385CC10FCD4}" type="pres">
      <dgm:prSet presAssocID="{9D62CB54-8B89-415D-A096-7BE013B2A8CF}" presName="sibTrans" presStyleCnt="0"/>
      <dgm:spPr/>
    </dgm:pt>
    <dgm:pt modelId="{E998BE03-93E8-4F98-97C5-409E7C46D64F}" type="pres">
      <dgm:prSet presAssocID="{A901C675-9FC4-443E-ACFD-0CA0D44371BB}" presName="compNode" presStyleCnt="0"/>
      <dgm:spPr/>
    </dgm:pt>
    <dgm:pt modelId="{4CEB5607-F32B-44C7-A0EA-8BBBA96FDCB5}" type="pres">
      <dgm:prSet presAssocID="{A901C675-9FC4-443E-ACFD-0CA0D44371BB}" presName="iconBgRect" presStyleLbl="bgShp" presStyleIdx="2" presStyleCnt="3"/>
      <dgm:spPr/>
    </dgm:pt>
    <dgm:pt modelId="{1252E489-465B-4CF6-BC7C-A218E5CC0A61}" type="pres">
      <dgm:prSet presAssocID="{A901C675-9FC4-443E-ACFD-0CA0D44371B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btitles"/>
        </a:ext>
      </dgm:extLst>
    </dgm:pt>
    <dgm:pt modelId="{7CBEBDF8-FF78-4EFB-B7CA-6FB24D829722}" type="pres">
      <dgm:prSet presAssocID="{A901C675-9FC4-443E-ACFD-0CA0D44371BB}" presName="spaceRect" presStyleCnt="0"/>
      <dgm:spPr/>
    </dgm:pt>
    <dgm:pt modelId="{8EB6E790-E23C-4793-8CB5-3BDA16FA302E}" type="pres">
      <dgm:prSet presAssocID="{A901C675-9FC4-443E-ACFD-0CA0D44371BB}" presName="textRect" presStyleLbl="revTx" presStyleIdx="2" presStyleCnt="3">
        <dgm:presLayoutVars>
          <dgm:chMax val="1"/>
          <dgm:chPref val="1"/>
        </dgm:presLayoutVars>
      </dgm:prSet>
      <dgm:spPr/>
    </dgm:pt>
  </dgm:ptLst>
  <dgm:cxnLst>
    <dgm:cxn modelId="{26E30B26-C044-4AAB-9137-90F591814B58}" type="presOf" srcId="{6C2BE07C-2450-4B72-A0CC-55A8F9DB5540}" destId="{B589627A-3085-453A-A9E0-CD75C846BDE1}" srcOrd="0" destOrd="0" presId="urn:microsoft.com/office/officeart/2018/5/layout/IconCircleLabelList"/>
    <dgm:cxn modelId="{DD585427-D09D-4A54-9703-2FA53922D0FD}" type="presOf" srcId="{D9504EE9-7393-4AB3-B670-C9444BE704A0}" destId="{450F78DD-8AAB-40DE-AFC2-AC37103C22F0}" srcOrd="0" destOrd="0" presId="urn:microsoft.com/office/officeart/2018/5/layout/IconCircleLabelList"/>
    <dgm:cxn modelId="{704DDB51-F85A-4892-8F36-A5FAB8A18313}" type="presOf" srcId="{A901C675-9FC4-443E-ACFD-0CA0D44371BB}" destId="{8EB6E790-E23C-4793-8CB5-3BDA16FA302E}" srcOrd="0" destOrd="0" presId="urn:microsoft.com/office/officeart/2018/5/layout/IconCircleLabelList"/>
    <dgm:cxn modelId="{33CCEC98-5857-49B3-92CC-A1293B6E27A3}" srcId="{6C2BE07C-2450-4B72-A0CC-55A8F9DB5540}" destId="{5AC03938-FDB1-408B-ADD7-79AD8519305C}" srcOrd="0" destOrd="0" parTransId="{62C4474D-79C7-4657-A295-56201F8E6A73}" sibTransId="{7FB47740-3FD0-4216-82DA-0CCD18DA665B}"/>
    <dgm:cxn modelId="{253D999E-B9CF-46E4-A8AB-11B90BF3D60F}" srcId="{6C2BE07C-2450-4B72-A0CC-55A8F9DB5540}" destId="{D9504EE9-7393-4AB3-B670-C9444BE704A0}" srcOrd="1" destOrd="0" parTransId="{188AFDFC-A9E7-48FE-9723-552BE3CC2FD1}" sibTransId="{9D62CB54-8B89-415D-A096-7BE013B2A8CF}"/>
    <dgm:cxn modelId="{4A497ECE-ADDC-4231-821C-E3453A4DCEEC}" type="presOf" srcId="{5AC03938-FDB1-408B-ADD7-79AD8519305C}" destId="{C01D7369-64B3-4E97-BC7A-4A27E1D13DF7}" srcOrd="0" destOrd="0" presId="urn:microsoft.com/office/officeart/2018/5/layout/IconCircleLabelList"/>
    <dgm:cxn modelId="{DC2633EB-1FAE-4DA1-A493-2F83A4305D99}" srcId="{6C2BE07C-2450-4B72-A0CC-55A8F9DB5540}" destId="{A901C675-9FC4-443E-ACFD-0CA0D44371BB}" srcOrd="2" destOrd="0" parTransId="{4FCE7138-12E8-4975-BEBB-6B9BE79BE8EF}" sibTransId="{8DD2882D-69C1-47E5-8D10-9F43E504783E}"/>
    <dgm:cxn modelId="{C5E079FB-D06D-4747-8AEC-64825F211279}" type="presParOf" srcId="{B589627A-3085-453A-A9E0-CD75C846BDE1}" destId="{FCC8664E-57DE-48FA-A384-305B4F0EB527}" srcOrd="0" destOrd="0" presId="urn:microsoft.com/office/officeart/2018/5/layout/IconCircleLabelList"/>
    <dgm:cxn modelId="{81A964A9-F981-41D4-A708-529AA4A9DF26}" type="presParOf" srcId="{FCC8664E-57DE-48FA-A384-305B4F0EB527}" destId="{820632AF-04F9-4526-9A09-516BFA21D6DB}" srcOrd="0" destOrd="0" presId="urn:microsoft.com/office/officeart/2018/5/layout/IconCircleLabelList"/>
    <dgm:cxn modelId="{0F1C229A-539A-47AE-BF50-A769249CF7DC}" type="presParOf" srcId="{FCC8664E-57DE-48FA-A384-305B4F0EB527}" destId="{AA15FEB9-BE6B-4C4D-8452-A3E859AEAD17}" srcOrd="1" destOrd="0" presId="urn:microsoft.com/office/officeart/2018/5/layout/IconCircleLabelList"/>
    <dgm:cxn modelId="{721E4340-0C83-4F35-B456-D718A17AF580}" type="presParOf" srcId="{FCC8664E-57DE-48FA-A384-305B4F0EB527}" destId="{FFCB427D-B1FA-4817-820B-E3407D5000B2}" srcOrd="2" destOrd="0" presId="urn:microsoft.com/office/officeart/2018/5/layout/IconCircleLabelList"/>
    <dgm:cxn modelId="{2406F6D7-5940-4053-920F-BB4F37CAF509}" type="presParOf" srcId="{FCC8664E-57DE-48FA-A384-305B4F0EB527}" destId="{C01D7369-64B3-4E97-BC7A-4A27E1D13DF7}" srcOrd="3" destOrd="0" presId="urn:microsoft.com/office/officeart/2018/5/layout/IconCircleLabelList"/>
    <dgm:cxn modelId="{54E15AAF-6197-46A9-9EBC-835008935F6D}" type="presParOf" srcId="{B589627A-3085-453A-A9E0-CD75C846BDE1}" destId="{9BD1612F-846E-4160-AB5B-EFFD46E09FD6}" srcOrd="1" destOrd="0" presId="urn:microsoft.com/office/officeart/2018/5/layout/IconCircleLabelList"/>
    <dgm:cxn modelId="{2030A797-7B94-4A04-887D-86E356B8CEF2}" type="presParOf" srcId="{B589627A-3085-453A-A9E0-CD75C846BDE1}" destId="{ACAE80DD-BF5A-4150-A1AA-0A44C6BE79FD}" srcOrd="2" destOrd="0" presId="urn:microsoft.com/office/officeart/2018/5/layout/IconCircleLabelList"/>
    <dgm:cxn modelId="{76E8BFAE-060C-45C4-875F-AB40971840CB}" type="presParOf" srcId="{ACAE80DD-BF5A-4150-A1AA-0A44C6BE79FD}" destId="{E2209623-0DBA-42D8-9940-B78FF75390FE}" srcOrd="0" destOrd="0" presId="urn:microsoft.com/office/officeart/2018/5/layout/IconCircleLabelList"/>
    <dgm:cxn modelId="{9244AD2B-3EB5-4960-8060-E3A33779CA2C}" type="presParOf" srcId="{ACAE80DD-BF5A-4150-A1AA-0A44C6BE79FD}" destId="{7D69FA20-FE61-435A-9FE5-46018C43825F}" srcOrd="1" destOrd="0" presId="urn:microsoft.com/office/officeart/2018/5/layout/IconCircleLabelList"/>
    <dgm:cxn modelId="{89D20561-3144-4C9D-B7E3-50C4340E1983}" type="presParOf" srcId="{ACAE80DD-BF5A-4150-A1AA-0A44C6BE79FD}" destId="{0E12F21A-06C3-4F64-9304-3DA4869E5077}" srcOrd="2" destOrd="0" presId="urn:microsoft.com/office/officeart/2018/5/layout/IconCircleLabelList"/>
    <dgm:cxn modelId="{47B55CB4-772A-4D0B-BBE6-2398901F4718}" type="presParOf" srcId="{ACAE80DD-BF5A-4150-A1AA-0A44C6BE79FD}" destId="{450F78DD-8AAB-40DE-AFC2-AC37103C22F0}" srcOrd="3" destOrd="0" presId="urn:microsoft.com/office/officeart/2018/5/layout/IconCircleLabelList"/>
    <dgm:cxn modelId="{A99D346C-5846-45FB-B1AB-FCB496BF75FB}" type="presParOf" srcId="{B589627A-3085-453A-A9E0-CD75C846BDE1}" destId="{94D414F8-7402-4FBF-AA2F-5385CC10FCD4}" srcOrd="3" destOrd="0" presId="urn:microsoft.com/office/officeart/2018/5/layout/IconCircleLabelList"/>
    <dgm:cxn modelId="{4EAC59D5-E277-4EC5-A4EC-08E2B52D0567}" type="presParOf" srcId="{B589627A-3085-453A-A9E0-CD75C846BDE1}" destId="{E998BE03-93E8-4F98-97C5-409E7C46D64F}" srcOrd="4" destOrd="0" presId="urn:microsoft.com/office/officeart/2018/5/layout/IconCircleLabelList"/>
    <dgm:cxn modelId="{D35C5DEE-5A96-4343-A8E4-53FB429DBC9E}" type="presParOf" srcId="{E998BE03-93E8-4F98-97C5-409E7C46D64F}" destId="{4CEB5607-F32B-44C7-A0EA-8BBBA96FDCB5}" srcOrd="0" destOrd="0" presId="urn:microsoft.com/office/officeart/2018/5/layout/IconCircleLabelList"/>
    <dgm:cxn modelId="{C530CA1D-883B-469D-8DB2-B5CB84B2FAB7}" type="presParOf" srcId="{E998BE03-93E8-4F98-97C5-409E7C46D64F}" destId="{1252E489-465B-4CF6-BC7C-A218E5CC0A61}" srcOrd="1" destOrd="0" presId="urn:microsoft.com/office/officeart/2018/5/layout/IconCircleLabelList"/>
    <dgm:cxn modelId="{24976BF2-AFA8-42A5-B2D3-AC5FDB1B71DC}" type="presParOf" srcId="{E998BE03-93E8-4F98-97C5-409E7C46D64F}" destId="{7CBEBDF8-FF78-4EFB-B7CA-6FB24D829722}" srcOrd="2" destOrd="0" presId="urn:microsoft.com/office/officeart/2018/5/layout/IconCircleLabelList"/>
    <dgm:cxn modelId="{A7C22FB4-A28C-49A0-BA0E-844869CFDD98}" type="presParOf" srcId="{E998BE03-93E8-4F98-97C5-409E7C46D64F}" destId="{8EB6E790-E23C-4793-8CB5-3BDA16FA302E}"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DCAF0-A1E6-4BE6-9E84-B25BBB412026}">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66E928-E756-4359-AB78-F6961EFA1FB7}">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pPr>
          <a:r>
            <a:rPr lang="en-US" sz="3000" kern="1200"/>
            <a:t>Packet switching</a:t>
          </a:r>
        </a:p>
      </dsp:txBody>
      <dsp:txXfrm>
        <a:off x="59990" y="2654049"/>
        <a:ext cx="3226223" cy="720000"/>
      </dsp:txXfrm>
    </dsp:sp>
    <dsp:sp modelId="{E235CA41-F2D6-4DF2-AD28-CA4FB0E32324}">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012AD2-677F-4BEC-9A1C-006D7BC13545}">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pPr>
          <a:r>
            <a:rPr lang="en-US" sz="3000" kern="1200"/>
            <a:t>Circuit Switching</a:t>
          </a:r>
        </a:p>
      </dsp:txBody>
      <dsp:txXfrm>
        <a:off x="3850802" y="2654049"/>
        <a:ext cx="3226223" cy="720000"/>
      </dsp:txXfrm>
    </dsp:sp>
    <dsp:sp modelId="{9E82B594-29CA-46C6-BDA0-45E0D8989FED}">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93C229-DBAE-46DC-AF42-7FE6290169A4}">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pPr>
          <a:r>
            <a:rPr lang="en-US" sz="3000" kern="1200"/>
            <a:t>Message Switching</a:t>
          </a:r>
        </a:p>
      </dsp:txBody>
      <dsp:txXfrm>
        <a:off x="7641615" y="2654049"/>
        <a:ext cx="3226223"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632AF-04F9-4526-9A09-516BFA21D6DB}">
      <dsp:nvSpPr>
        <dsp:cNvPr id="0" name=""/>
        <dsp:cNvSpPr/>
      </dsp:nvSpPr>
      <dsp:spPr>
        <a:xfrm>
          <a:off x="718664" y="45390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15FEB9-BE6B-4C4D-8452-A3E859AEAD17}">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1D7369-64B3-4E97-BC7A-4A27E1D13DF7}">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Time-out methode</a:t>
          </a:r>
        </a:p>
      </dsp:txBody>
      <dsp:txXfrm>
        <a:off x="93445" y="3018902"/>
        <a:ext cx="3206250" cy="720000"/>
      </dsp:txXfrm>
    </dsp:sp>
    <dsp:sp modelId="{E2209623-0DBA-42D8-9940-B78FF75390FE}">
      <dsp:nvSpPr>
        <dsp:cNvPr id="0" name=""/>
        <dsp:cNvSpPr/>
      </dsp:nvSpPr>
      <dsp:spPr>
        <a:xfrm>
          <a:off x="4486008" y="45390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69FA20-FE61-435A-9FE5-46018C43825F}">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0F78DD-8AAB-40DE-AFC2-AC37103C22F0}">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Byte-count methode</a:t>
          </a:r>
        </a:p>
      </dsp:txBody>
      <dsp:txXfrm>
        <a:off x="3860789" y="3018902"/>
        <a:ext cx="3206250" cy="720000"/>
      </dsp:txXfrm>
    </dsp:sp>
    <dsp:sp modelId="{4CEB5607-F32B-44C7-A0EA-8BBBA96FDCB5}">
      <dsp:nvSpPr>
        <dsp:cNvPr id="0" name=""/>
        <dsp:cNvSpPr/>
      </dsp:nvSpPr>
      <dsp:spPr>
        <a:xfrm>
          <a:off x="8253352" y="45390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52E489-465B-4CF6-BC7C-A218E5CC0A61}">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B6E790-E23C-4793-8CB5-3BDA16FA302E}">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End-of-message methode</a:t>
          </a:r>
        </a:p>
      </dsp:txBody>
      <dsp:txXfrm>
        <a:off x="7628133" y="3018902"/>
        <a:ext cx="32062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4B951-E8D2-4B97-9F97-5905D42B68F0}" type="datetimeFigureOut">
              <a:rPr lang="LID4096" smtClean="0"/>
              <a:t>11/25/2025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30C18C-AB1C-483C-BCB0-2CDFB8E5FF32}" type="slidenum">
              <a:rPr lang="LID4096" smtClean="0"/>
              <a:t>‹#›</a:t>
            </a:fld>
            <a:endParaRPr lang="LID4096"/>
          </a:p>
        </p:txBody>
      </p:sp>
    </p:spTree>
    <p:extLst>
      <p:ext uri="{BB962C8B-B14F-4D97-AF65-F5344CB8AC3E}">
        <p14:creationId xmlns:p14="http://schemas.microsoft.com/office/powerpoint/2010/main" val="304619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Elke communicatie verloopt steeds volgens dit schema.</a:t>
            </a:r>
          </a:p>
          <a:p>
            <a:endParaRPr lang="nl-BE" dirty="0"/>
          </a:p>
          <a:p>
            <a:r>
              <a:rPr lang="nl-BE" dirty="0"/>
              <a:t>Als A en B mensen zijn, dan is het communicatiekanaal de gemeenschappelijke taal. </a:t>
            </a:r>
          </a:p>
          <a:p>
            <a:endParaRPr lang="nl-BE" dirty="0"/>
          </a:p>
          <a:p>
            <a:r>
              <a:rPr lang="nl-BE" dirty="0"/>
              <a:t>Als A een computer is en B is een printer, dan is het communicatiekanaal een printerkabel</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5</a:t>
            </a:fld>
            <a:endParaRPr lang="LID4096"/>
          </a:p>
        </p:txBody>
      </p:sp>
    </p:spTree>
    <p:extLst>
      <p:ext uri="{BB962C8B-B14F-4D97-AF65-F5344CB8AC3E}">
        <p14:creationId xmlns:p14="http://schemas.microsoft.com/office/powerpoint/2010/main" val="3876497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Vaak staan er tussen A en B hindernissen in de weg die rechtstreekse communicatie onmogelijk maken. Een hulpmiddel dat deze hindernissen opheft, wordt een medium genoemd. </a:t>
            </a:r>
          </a:p>
          <a:p>
            <a:endParaRPr lang="nl-BE" dirty="0"/>
          </a:p>
          <a:p>
            <a:r>
              <a:rPr lang="nl-BE" dirty="0"/>
              <a:t>Zo kunnen mensen die zich niet in elkaars buurt bevinden geen gesprek voeren. Maar met een telefoon wordt dat wel mogelijk. In dat geval is de telefoon het medium. </a:t>
            </a:r>
          </a:p>
          <a:p>
            <a:endParaRPr lang="nl-BE" dirty="0"/>
          </a:p>
          <a:p>
            <a:r>
              <a:rPr lang="nl-BE" dirty="0"/>
              <a:t>Op dezelfde manier hebben computers een netwerkkaart nodig als medium voor onderlinge communicatie. Het communicatieschema ziet er dan zo uit</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6</a:t>
            </a:fld>
            <a:endParaRPr lang="LID4096"/>
          </a:p>
        </p:txBody>
      </p:sp>
    </p:spTree>
    <p:extLst>
      <p:ext uri="{BB962C8B-B14F-4D97-AF65-F5344CB8AC3E}">
        <p14:creationId xmlns:p14="http://schemas.microsoft.com/office/powerpoint/2010/main" val="1968289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Wanneer er slechts communicatie mogelijk is in één richting, spreken we van simplex communicatie. </a:t>
            </a:r>
          </a:p>
          <a:p>
            <a:endParaRPr lang="nl-BE" dirty="0"/>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7</a:t>
            </a:fld>
            <a:endParaRPr lang="LID4096"/>
          </a:p>
        </p:txBody>
      </p:sp>
    </p:spTree>
    <p:extLst>
      <p:ext uri="{BB962C8B-B14F-4D97-AF65-F5344CB8AC3E}">
        <p14:creationId xmlns:p14="http://schemas.microsoft.com/office/powerpoint/2010/main" val="3064558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voorbeeld van simplex communicatie zijn radio- of televisie-uitzendingen. </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8</a:t>
            </a:fld>
            <a:endParaRPr lang="LID4096"/>
          </a:p>
        </p:txBody>
      </p:sp>
    </p:spTree>
    <p:extLst>
      <p:ext uri="{BB962C8B-B14F-4D97-AF65-F5344CB8AC3E}">
        <p14:creationId xmlns:p14="http://schemas.microsoft.com/office/powerpoint/2010/main" val="391758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Soms is communicatie mogelijk in twee richtingen, maar niet tegelijkertijd. Dat noemen we half-duplex communicatie.</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9</a:t>
            </a:fld>
            <a:endParaRPr lang="LID4096"/>
          </a:p>
        </p:txBody>
      </p:sp>
    </p:spTree>
    <p:extLst>
      <p:ext uri="{BB962C8B-B14F-4D97-AF65-F5344CB8AC3E}">
        <p14:creationId xmlns:p14="http://schemas.microsoft.com/office/powerpoint/2010/main" val="3166461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Dat is bijvoorbeeld het geval bij het communiceren via walkie-talkies.</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10</a:t>
            </a:fld>
            <a:endParaRPr lang="LID4096"/>
          </a:p>
        </p:txBody>
      </p:sp>
    </p:spTree>
    <p:extLst>
      <p:ext uri="{BB962C8B-B14F-4D97-AF65-F5344CB8AC3E}">
        <p14:creationId xmlns:p14="http://schemas.microsoft.com/office/powerpoint/2010/main" val="474564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duplex of Full-Duplex </a:t>
            </a:r>
            <a:r>
              <a:rPr lang="en-US" dirty="0" err="1"/>
              <a:t>spreken</a:t>
            </a:r>
            <a:r>
              <a:rPr lang="en-US" dirty="0"/>
              <a:t> we van </a:t>
            </a:r>
            <a:r>
              <a:rPr lang="en-US" dirty="0" err="1"/>
              <a:t>communicatie</a:t>
            </a:r>
            <a:r>
              <a:rPr lang="en-US" dirty="0"/>
              <a:t> die </a:t>
            </a:r>
            <a:r>
              <a:rPr lang="en-US" dirty="0" err="1"/>
              <a:t>tegelijk</a:t>
            </a:r>
            <a:r>
              <a:rPr lang="en-US" dirty="0"/>
              <a:t> </a:t>
            </a:r>
            <a:r>
              <a:rPr lang="en-US" dirty="0" err="1"/>
              <a:t>kan</a:t>
            </a:r>
            <a:r>
              <a:rPr lang="en-US" dirty="0"/>
              <a:t> </a:t>
            </a:r>
            <a:r>
              <a:rPr lang="en-US" dirty="0" err="1"/>
              <a:t>lopen</a:t>
            </a:r>
            <a:r>
              <a:rPr lang="en-US" dirty="0"/>
              <a:t> </a:t>
            </a:r>
            <a:r>
              <a:rPr lang="en-US" dirty="0" err="1"/>
              <a:t>tussen</a:t>
            </a:r>
            <a:r>
              <a:rPr lang="en-US" dirty="0"/>
              <a:t> </a:t>
            </a:r>
            <a:r>
              <a:rPr lang="en-US" dirty="0" err="1"/>
              <a:t>zender</a:t>
            </a:r>
            <a:r>
              <a:rPr lang="en-US" dirty="0"/>
              <a:t> </a:t>
            </a:r>
            <a:r>
              <a:rPr lang="en-US" dirty="0" err="1"/>
              <a:t>en</a:t>
            </a:r>
            <a:r>
              <a:rPr lang="en-US" dirty="0"/>
              <a:t> </a:t>
            </a:r>
            <a:r>
              <a:rPr lang="en-US" dirty="0" err="1"/>
              <a:t>ontvanger</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11</a:t>
            </a:fld>
            <a:endParaRPr lang="LID4096"/>
          </a:p>
        </p:txBody>
      </p:sp>
    </p:spTree>
    <p:extLst>
      <p:ext uri="{BB962C8B-B14F-4D97-AF65-F5344CB8AC3E}">
        <p14:creationId xmlns:p14="http://schemas.microsoft.com/office/powerpoint/2010/main" val="691846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t>
            </a:r>
            <a:r>
              <a:rPr lang="en-US" dirty="0" err="1"/>
              <a:t>voorbeeld</a:t>
            </a:r>
            <a:r>
              <a:rPr lang="en-US" dirty="0"/>
              <a:t> </a:t>
            </a:r>
            <a:r>
              <a:rPr lang="en-US" dirty="0" err="1"/>
              <a:t>hiervan</a:t>
            </a:r>
            <a:r>
              <a:rPr lang="en-US" dirty="0"/>
              <a:t> is </a:t>
            </a:r>
            <a:r>
              <a:rPr lang="en-US" dirty="0" err="1"/>
              <a:t>een</a:t>
            </a:r>
            <a:r>
              <a:rPr lang="en-US" dirty="0"/>
              <a:t> </a:t>
            </a:r>
            <a:r>
              <a:rPr lang="en-US" dirty="0" err="1"/>
              <a:t>telefoongesprek</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12</a:t>
            </a:fld>
            <a:endParaRPr lang="LID4096"/>
          </a:p>
        </p:txBody>
      </p:sp>
    </p:spTree>
    <p:extLst>
      <p:ext uri="{BB962C8B-B14F-4D97-AF65-F5344CB8AC3E}">
        <p14:creationId xmlns:p14="http://schemas.microsoft.com/office/powerpoint/2010/main" val="486151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Wanneer</a:t>
            </a:r>
            <a:r>
              <a:rPr lang="en-US" dirty="0"/>
              <a:t> </a:t>
            </a:r>
            <a:r>
              <a:rPr lang="en-US" dirty="0" err="1"/>
              <a:t>meerdere</a:t>
            </a:r>
            <a:r>
              <a:rPr lang="en-US" dirty="0"/>
              <a:t> computers </a:t>
            </a:r>
            <a:r>
              <a:rPr lang="en-US" dirty="0" err="1"/>
              <a:t>lokaal</a:t>
            </a:r>
            <a:r>
              <a:rPr lang="en-US" dirty="0"/>
              <a:t> met </a:t>
            </a:r>
            <a:r>
              <a:rPr lang="en-US" dirty="0" err="1"/>
              <a:t>elkaar</a:t>
            </a:r>
            <a:r>
              <a:rPr lang="en-US" dirty="0"/>
              <a:t> </a:t>
            </a:r>
            <a:r>
              <a:rPr lang="en-US" dirty="0" err="1"/>
              <a:t>worden</a:t>
            </a:r>
            <a:r>
              <a:rPr lang="en-US" dirty="0"/>
              <a:t> </a:t>
            </a:r>
            <a:r>
              <a:rPr lang="en-US" dirty="0" err="1"/>
              <a:t>verbinden</a:t>
            </a:r>
            <a:r>
              <a:rPr lang="en-US" dirty="0"/>
              <a:t> </a:t>
            </a:r>
            <a:r>
              <a:rPr lang="en-US" dirty="0" err="1"/>
              <a:t>gebruiken</a:t>
            </a:r>
            <a:r>
              <a:rPr lang="en-US" dirty="0"/>
              <a:t> we </a:t>
            </a:r>
            <a:r>
              <a:rPr lang="en-US" dirty="0" err="1"/>
              <a:t>een</a:t>
            </a:r>
            <a:r>
              <a:rPr lang="en-US" dirty="0"/>
              <a:t> switch.</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13</a:t>
            </a:fld>
            <a:endParaRPr lang="LID4096"/>
          </a:p>
        </p:txBody>
      </p:sp>
    </p:spTree>
    <p:extLst>
      <p:ext uri="{BB962C8B-B14F-4D97-AF65-F5344CB8AC3E}">
        <p14:creationId xmlns:p14="http://schemas.microsoft.com/office/powerpoint/2010/main" val="2482201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Wanneer</a:t>
            </a:r>
            <a:r>
              <a:rPr lang="en-US" dirty="0"/>
              <a:t> we </a:t>
            </a:r>
            <a:r>
              <a:rPr lang="en-US" dirty="0" err="1"/>
              <a:t>spreken</a:t>
            </a:r>
            <a:r>
              <a:rPr lang="en-US" dirty="0"/>
              <a:t> over het </a:t>
            </a:r>
            <a:r>
              <a:rPr lang="en-US" dirty="0" err="1"/>
              <a:t>versturen</a:t>
            </a:r>
            <a:r>
              <a:rPr lang="en-US" dirty="0"/>
              <a:t> van </a:t>
            </a:r>
            <a:r>
              <a:rPr lang="en-US" dirty="0" err="1"/>
              <a:t>boodschappen</a:t>
            </a:r>
            <a:r>
              <a:rPr lang="en-US" dirty="0"/>
              <a:t> </a:t>
            </a:r>
            <a:r>
              <a:rPr lang="en-US" dirty="0" err="1"/>
              <a:t>tussen</a:t>
            </a:r>
            <a:r>
              <a:rPr lang="en-US" dirty="0"/>
              <a:t> </a:t>
            </a:r>
            <a:r>
              <a:rPr lang="en-US" dirty="0" err="1"/>
              <a:t>verschillende</a:t>
            </a:r>
            <a:r>
              <a:rPr lang="en-US" dirty="0"/>
              <a:t> endpoints </a:t>
            </a:r>
            <a:r>
              <a:rPr lang="en-US" dirty="0" err="1"/>
              <a:t>spreken</a:t>
            </a:r>
            <a:r>
              <a:rPr lang="en-US" dirty="0"/>
              <a:t> we over casting</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15</a:t>
            </a:fld>
            <a:endParaRPr lang="LID4096"/>
          </a:p>
        </p:txBody>
      </p:sp>
    </p:spTree>
    <p:extLst>
      <p:ext uri="{BB962C8B-B14F-4D97-AF65-F5344CB8AC3E}">
        <p14:creationId xmlns:p14="http://schemas.microsoft.com/office/powerpoint/2010/main" val="431757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bericht dat wordt verzonden van een computer in een netwerk naar een andere computer, heet een unicast-bericht</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16</a:t>
            </a:fld>
            <a:endParaRPr lang="LID4096"/>
          </a:p>
        </p:txBody>
      </p:sp>
    </p:spTree>
    <p:extLst>
      <p:ext uri="{BB962C8B-B14F-4D97-AF65-F5344CB8AC3E}">
        <p14:creationId xmlns:p14="http://schemas.microsoft.com/office/powerpoint/2010/main" val="78263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t>
            </a:r>
            <a:r>
              <a:rPr lang="en-US" dirty="0" err="1"/>
              <a:t>voorbeeld</a:t>
            </a:r>
            <a:r>
              <a:rPr lang="en-US" dirty="0"/>
              <a:t> </a:t>
            </a:r>
            <a:r>
              <a:rPr lang="en-US" dirty="0" err="1"/>
              <a:t>hiervan</a:t>
            </a:r>
            <a:r>
              <a:rPr lang="en-US" dirty="0"/>
              <a:t> is </a:t>
            </a:r>
            <a:r>
              <a:rPr lang="en-US" dirty="0" err="1"/>
              <a:t>een</a:t>
            </a:r>
            <a:r>
              <a:rPr lang="en-US" dirty="0"/>
              <a:t> </a:t>
            </a:r>
            <a:r>
              <a:rPr lang="en-US" dirty="0" err="1"/>
              <a:t>bestandsoverzetting</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17</a:t>
            </a:fld>
            <a:endParaRPr lang="LID4096"/>
          </a:p>
        </p:txBody>
      </p:sp>
    </p:spTree>
    <p:extLst>
      <p:ext uri="{BB962C8B-B14F-4D97-AF65-F5344CB8AC3E}">
        <p14:creationId xmlns:p14="http://schemas.microsoft.com/office/powerpoint/2010/main" val="3300933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bericht dat wordt verzonden van een computer in een netwerk naar verschillende andere computers tegelijk, heet een multicast-bericht.</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18</a:t>
            </a:fld>
            <a:endParaRPr lang="LID4096"/>
          </a:p>
        </p:txBody>
      </p:sp>
    </p:spTree>
    <p:extLst>
      <p:ext uri="{BB962C8B-B14F-4D97-AF65-F5344CB8AC3E}">
        <p14:creationId xmlns:p14="http://schemas.microsoft.com/office/powerpoint/2010/main" val="675035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 Dat gebeurt bijvoorbeeld wanneer er op verschillende computers tegelijk dezelfde livestream wordt bekeken.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19</a:t>
            </a:fld>
            <a:endParaRPr lang="LID4096"/>
          </a:p>
        </p:txBody>
      </p:sp>
    </p:spTree>
    <p:extLst>
      <p:ext uri="{BB962C8B-B14F-4D97-AF65-F5344CB8AC3E}">
        <p14:creationId xmlns:p14="http://schemas.microsoft.com/office/powerpoint/2010/main" val="1658555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Als een bericht wordt verzonden van een computer in een netwerk naar alle andere computers tegelijk, dan is dat een broadcast-bericht. Dat doen computers bijvoorbeeld wanneer ze zich aanmelden op een netwerk en op zoek gaan naar een server die hen een IP-adres kan geven.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20</a:t>
            </a:fld>
            <a:endParaRPr lang="LID4096"/>
          </a:p>
        </p:txBody>
      </p:sp>
    </p:spTree>
    <p:extLst>
      <p:ext uri="{BB962C8B-B14F-4D97-AF65-F5344CB8AC3E}">
        <p14:creationId xmlns:p14="http://schemas.microsoft.com/office/powerpoint/2010/main" val="610100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t>
            </a:r>
            <a:r>
              <a:rPr lang="en-US" dirty="0" err="1"/>
              <a:t>voorbeeld</a:t>
            </a:r>
            <a:r>
              <a:rPr lang="en-US" dirty="0"/>
              <a:t> </a:t>
            </a:r>
            <a:r>
              <a:rPr lang="en-US" dirty="0" err="1"/>
              <a:t>hiervan</a:t>
            </a:r>
            <a:r>
              <a:rPr lang="en-US" dirty="0"/>
              <a:t> is </a:t>
            </a:r>
            <a:r>
              <a:rPr lang="en-US" dirty="0" err="1"/>
              <a:t>een</a:t>
            </a:r>
            <a:r>
              <a:rPr lang="en-US" dirty="0"/>
              <a:t> </a:t>
            </a:r>
            <a:r>
              <a:rPr lang="en-US" dirty="0" err="1"/>
              <a:t>nieuwsbericht</a:t>
            </a:r>
            <a:r>
              <a:rPr lang="en-US" dirty="0"/>
              <a:t> die </a:t>
            </a:r>
            <a:r>
              <a:rPr lang="en-US" dirty="0" err="1"/>
              <a:t>gestreamd</a:t>
            </a:r>
            <a:r>
              <a:rPr lang="en-US" dirty="0"/>
              <a:t> </a:t>
            </a:r>
            <a:r>
              <a:rPr lang="en-US" dirty="0" err="1"/>
              <a:t>wordt</a:t>
            </a:r>
            <a:r>
              <a:rPr lang="en-US" dirty="0"/>
              <a:t> op alle </a:t>
            </a:r>
            <a:r>
              <a:rPr lang="en-US" dirty="0" err="1"/>
              <a:t>televisies</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21</a:t>
            </a:fld>
            <a:endParaRPr lang="LID4096"/>
          </a:p>
        </p:txBody>
      </p:sp>
    </p:spTree>
    <p:extLst>
      <p:ext uri="{BB962C8B-B14F-4D97-AF65-F5344CB8AC3E}">
        <p14:creationId xmlns:p14="http://schemas.microsoft.com/office/powerpoint/2010/main" val="1856535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anycast-bericht tenslotte wordt verzonden van een computer in een netwerk naar de gemakkelijkst te bereiken computer met een bepaalde functie. Dat kan gebeuren wanneer je een website wil raadplegen die op verschillende servers gehost wordt. De server die het makkelijkst te bereiken is zal reageren en de website tonen.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22</a:t>
            </a:fld>
            <a:endParaRPr lang="LID4096"/>
          </a:p>
        </p:txBody>
      </p:sp>
    </p:spTree>
    <p:extLst>
      <p:ext uri="{BB962C8B-B14F-4D97-AF65-F5344CB8AC3E}">
        <p14:creationId xmlns:p14="http://schemas.microsoft.com/office/powerpoint/2010/main" val="1621915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a:t>
            </a:r>
            <a:r>
              <a:rPr lang="en-US" dirty="0" err="1"/>
              <a:t>wordt</a:t>
            </a:r>
            <a:r>
              <a:rPr lang="en-US" dirty="0"/>
              <a:t> </a:t>
            </a:r>
            <a:r>
              <a:rPr lang="en-US" dirty="0" err="1"/>
              <a:t>gebruitk</a:t>
            </a:r>
            <a:r>
              <a:rPr lang="en-US" dirty="0"/>
              <a:t> </a:t>
            </a:r>
            <a:r>
              <a:rPr lang="en-US" dirty="0" err="1"/>
              <a:t>bij</a:t>
            </a:r>
            <a:r>
              <a:rPr lang="en-US" dirty="0"/>
              <a:t> Peer-to-Peer </a:t>
            </a:r>
            <a:r>
              <a:rPr lang="en-US" dirty="0" err="1"/>
              <a:t>netwerken</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23</a:t>
            </a:fld>
            <a:endParaRPr lang="LID4096"/>
          </a:p>
        </p:txBody>
      </p:sp>
    </p:spTree>
    <p:extLst>
      <p:ext uri="{BB962C8B-B14F-4D97-AF65-F5344CB8AC3E}">
        <p14:creationId xmlns:p14="http://schemas.microsoft.com/office/powerpoint/2010/main" val="1354028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Computernetwerken kunnen op verschillende manieren ingedeeld worden:</a:t>
            </a:r>
          </a:p>
          <a:p>
            <a:endParaRPr lang="nl-BE" dirty="0"/>
          </a:p>
          <a:p>
            <a:pPr marL="171450" indent="-171450">
              <a:buFont typeface="Arial" panose="020B0604020202020204" pitchFamily="34" charset="0"/>
              <a:buChar char="•"/>
            </a:pPr>
            <a:r>
              <a:rPr lang="nl-BE" dirty="0"/>
              <a:t>Op basis van de geografische spreiding</a:t>
            </a:r>
          </a:p>
          <a:p>
            <a:pPr marL="171450" indent="-171450">
              <a:buFont typeface="Arial" panose="020B0604020202020204" pitchFamily="34" charset="0"/>
              <a:buChar char="•"/>
            </a:pPr>
            <a:r>
              <a:rPr lang="nl-BE" dirty="0"/>
              <a:t>Op basis van de hiërarchie tussen de netwerkcomponenten</a:t>
            </a:r>
          </a:p>
          <a:p>
            <a:pPr marL="171450" indent="-171450">
              <a:buFont typeface="Arial" panose="020B0604020202020204" pitchFamily="34" charset="0"/>
              <a:buChar char="•"/>
            </a:pPr>
            <a:r>
              <a:rPr lang="nl-BE" dirty="0"/>
              <a:t>Op basis van de schakeltechniek</a:t>
            </a:r>
          </a:p>
          <a:p>
            <a:pPr marL="171450" indent="-171450">
              <a:buFont typeface="Arial" panose="020B0604020202020204" pitchFamily="34" charset="0"/>
              <a:buChar char="•"/>
            </a:pPr>
            <a:r>
              <a:rPr lang="nl-BE" dirty="0"/>
              <a:t>Op basis van de datacommunicatietechnologie</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25</a:t>
            </a:fld>
            <a:endParaRPr lang="LID4096"/>
          </a:p>
        </p:txBody>
      </p:sp>
    </p:spTree>
    <p:extLst>
      <p:ext uri="{BB962C8B-B14F-4D97-AF65-F5344CB8AC3E}">
        <p14:creationId xmlns:p14="http://schemas.microsoft.com/office/powerpoint/2010/main" val="1860345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Een computernetwerk dat zich beperkt tot een klein geografisch gebied wordt een LAN (local area network) genoemd. Veruit de meeste computernetwerken zijn van dit type: je thuisnetwerk, het netwerk op je school of het netwerk op de campus van een bedrijf, een ziekenhuis, enz.</a:t>
            </a:r>
          </a:p>
          <a:p>
            <a:endParaRPr lang="nl-BE" dirty="0"/>
          </a:p>
          <a:p>
            <a:r>
              <a:rPr lang="nl-BE" dirty="0"/>
              <a:t>Een computernetwerk dat zich uitstrekt over een groot geografisch gebied wordt een WAN (wide area network) genoemd. Het bekendste WAN is het internet, maar ook een bedrijfsnetwerk dat verschillende vestigingen over een grote afstand met elkaar verbindt, kan een WAN genoemd worden.</a:t>
            </a:r>
          </a:p>
          <a:p>
            <a:endParaRPr lang="nl-BE" dirty="0"/>
          </a:p>
          <a:p>
            <a:r>
              <a:rPr lang="nl-BE" dirty="0"/>
              <a:t>De begrippen LAN en WAN worden door netwerkbeheerders vaak gebruikt om het onderscheid te maken tussen het netwerk dat ze zelf beheren en het grotere netwerk waarvan dat deel uitmaakt. Dat wordt duidelijker met een voorbeeld. Een school bestaat uit een hoofdvestiging en drie andere campussen in de stad. Elke campus heeft z’n eigen netwerkbeheerder om het lokale netwerk in die campus te onderhouden.</a:t>
            </a:r>
          </a:p>
          <a:p>
            <a:endParaRPr lang="nl-BE" dirty="0"/>
          </a:p>
          <a:p>
            <a:r>
              <a:rPr lang="nl-BE" dirty="0"/>
              <a:t>Voor de netwerkbeheerder van zo’n campus is het netwerk binnen de campus het LAN en is de netwerkverbinding met de hoofdvestiging het WAN. Voor de netwerkbeheerder van de hoofdvestiging vormen de verbindingen met de verschillende campussen het LAN en is de verbinding met de internetprovider het WAN. En voor de netwerkbeheerder van de provider is de netwerkverbinding met de school het LAN, terwijl de verbindingen met internetrouters van andere providers het WAN vormen. </a:t>
            </a:r>
          </a:p>
          <a:p>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26</a:t>
            </a:fld>
            <a:endParaRPr lang="LID4096"/>
          </a:p>
        </p:txBody>
      </p:sp>
    </p:spTree>
    <p:extLst>
      <p:ext uri="{BB962C8B-B14F-4D97-AF65-F5344CB8AC3E}">
        <p14:creationId xmlns:p14="http://schemas.microsoft.com/office/powerpoint/2010/main" val="269690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Computers in een netwerk kunnen zich op twee manieren tegenover elkaar verhouden: ofwel als gelijken, ofwel ondergeschikt aan elkaar. Het eerste noemen we dan peer-to-peer. In een servergestuurd netwerk is er wel een hiërarchie tussen werkstations en de server.</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27</a:t>
            </a:fld>
            <a:endParaRPr lang="LID4096"/>
          </a:p>
        </p:txBody>
      </p:sp>
    </p:spTree>
    <p:extLst>
      <p:ext uri="{BB962C8B-B14F-4D97-AF65-F5344CB8AC3E}">
        <p14:creationId xmlns:p14="http://schemas.microsoft.com/office/powerpoint/2010/main" val="113170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 switching =&gt; </a:t>
            </a:r>
            <a:r>
              <a:rPr lang="en-US" dirty="0" err="1"/>
              <a:t>bericht</a:t>
            </a:r>
            <a:r>
              <a:rPr lang="en-US" dirty="0"/>
              <a:t> </a:t>
            </a:r>
            <a:r>
              <a:rPr lang="en-US" dirty="0" err="1"/>
              <a:t>opgedeeld</a:t>
            </a:r>
            <a:r>
              <a:rPr lang="en-US" dirty="0"/>
              <a:t> in </a:t>
            </a:r>
            <a:r>
              <a:rPr lang="en-US" dirty="0" err="1"/>
              <a:t>pakketjes</a:t>
            </a:r>
            <a:r>
              <a:rPr lang="en-US" dirty="0"/>
              <a:t> </a:t>
            </a:r>
            <a:r>
              <a:rPr lang="en-US" dirty="0" err="1"/>
              <a:t>en</a:t>
            </a:r>
            <a:r>
              <a:rPr lang="en-US" dirty="0"/>
              <a:t> over </a:t>
            </a:r>
            <a:r>
              <a:rPr lang="en-US" dirty="0" err="1"/>
              <a:t>verschillende</a:t>
            </a:r>
            <a:r>
              <a:rPr lang="en-US" dirty="0"/>
              <a:t> </a:t>
            </a:r>
            <a:r>
              <a:rPr lang="en-US" dirty="0" err="1"/>
              <a:t>lijnen</a:t>
            </a:r>
            <a:r>
              <a:rPr lang="en-US" dirty="0"/>
              <a:t> </a:t>
            </a:r>
            <a:r>
              <a:rPr lang="en-US" dirty="0" err="1"/>
              <a:t>verstuurd</a:t>
            </a:r>
            <a:r>
              <a:rPr lang="en-US" dirty="0"/>
              <a:t>. (</a:t>
            </a:r>
            <a:r>
              <a:rPr lang="en-US" dirty="0" err="1"/>
              <a:t>vb</a:t>
            </a:r>
            <a:r>
              <a:rPr lang="en-US" dirty="0"/>
              <a:t>: Het laden van </a:t>
            </a:r>
            <a:r>
              <a:rPr lang="en-US" dirty="0" err="1"/>
              <a:t>een</a:t>
            </a:r>
            <a:r>
              <a:rPr lang="en-US" dirty="0"/>
              <a:t> website)</a:t>
            </a:r>
          </a:p>
          <a:p>
            <a:r>
              <a:rPr lang="en-US" dirty="0"/>
              <a:t>Circuit switching =&gt; 1 </a:t>
            </a:r>
            <a:r>
              <a:rPr lang="en-US" dirty="0" err="1"/>
              <a:t>lijn</a:t>
            </a:r>
            <a:r>
              <a:rPr lang="en-US" dirty="0"/>
              <a:t> </a:t>
            </a:r>
            <a:r>
              <a:rPr lang="en-US" dirty="0" err="1"/>
              <a:t>wordt</a:t>
            </a:r>
            <a:r>
              <a:rPr lang="en-US" dirty="0"/>
              <a:t> </a:t>
            </a:r>
            <a:r>
              <a:rPr lang="en-US" dirty="0" err="1"/>
              <a:t>volledig</a:t>
            </a:r>
            <a:r>
              <a:rPr lang="en-US" dirty="0"/>
              <a:t> </a:t>
            </a:r>
            <a:r>
              <a:rPr lang="en-US" dirty="0" err="1"/>
              <a:t>ter</a:t>
            </a:r>
            <a:r>
              <a:rPr lang="en-US" dirty="0"/>
              <a:t> </a:t>
            </a:r>
            <a:r>
              <a:rPr lang="en-US" dirty="0" err="1"/>
              <a:t>beschikking</a:t>
            </a:r>
            <a:r>
              <a:rPr lang="en-US" dirty="0"/>
              <a:t> </a:t>
            </a:r>
            <a:r>
              <a:rPr lang="en-US" dirty="0" err="1"/>
              <a:t>gesteld</a:t>
            </a:r>
            <a:r>
              <a:rPr lang="en-US" dirty="0"/>
              <a:t> </a:t>
            </a:r>
            <a:r>
              <a:rPr lang="en-US" dirty="0" err="1"/>
              <a:t>voor</a:t>
            </a:r>
            <a:r>
              <a:rPr lang="en-US" dirty="0"/>
              <a:t> het </a:t>
            </a:r>
            <a:r>
              <a:rPr lang="en-US" dirty="0" err="1"/>
              <a:t>bericht</a:t>
            </a:r>
            <a:r>
              <a:rPr lang="en-US" dirty="0"/>
              <a:t> </a:t>
            </a:r>
            <a:r>
              <a:rPr lang="en-US" dirty="0" err="1"/>
              <a:t>en</a:t>
            </a:r>
            <a:r>
              <a:rPr lang="en-US" dirty="0"/>
              <a:t> </a:t>
            </a:r>
            <a:r>
              <a:rPr lang="en-US" dirty="0" err="1"/>
              <a:t>wordt</a:t>
            </a:r>
            <a:r>
              <a:rPr lang="en-US" dirty="0"/>
              <a:t> </a:t>
            </a:r>
            <a:r>
              <a:rPr lang="en-US" dirty="0" err="1"/>
              <a:t>continu</a:t>
            </a:r>
            <a:r>
              <a:rPr lang="en-US" dirty="0"/>
              <a:t> </a:t>
            </a:r>
            <a:r>
              <a:rPr lang="en-US" dirty="0" err="1"/>
              <a:t>doorgsetuurd</a:t>
            </a:r>
            <a:r>
              <a:rPr lang="en-US" dirty="0"/>
              <a:t> (</a:t>
            </a:r>
            <a:r>
              <a:rPr lang="en-US" dirty="0" err="1"/>
              <a:t>vb</a:t>
            </a:r>
            <a:r>
              <a:rPr lang="en-US" dirty="0"/>
              <a:t>: </a:t>
            </a:r>
            <a:r>
              <a:rPr lang="en-US" dirty="0" err="1"/>
              <a:t>telefoneren</a:t>
            </a:r>
            <a:r>
              <a:rPr lang="en-US" dirty="0"/>
              <a:t>)</a:t>
            </a:r>
          </a:p>
          <a:p>
            <a:r>
              <a:rPr lang="en-US" dirty="0"/>
              <a:t>Message switching =&gt; Het </a:t>
            </a:r>
            <a:r>
              <a:rPr lang="en-US" dirty="0" err="1"/>
              <a:t>bericht</a:t>
            </a:r>
            <a:r>
              <a:rPr lang="en-US" dirty="0"/>
              <a:t> </a:t>
            </a:r>
            <a:r>
              <a:rPr lang="en-US" dirty="0" err="1"/>
              <a:t>wordt</a:t>
            </a:r>
            <a:r>
              <a:rPr lang="en-US" dirty="0"/>
              <a:t> in 1 </a:t>
            </a:r>
            <a:r>
              <a:rPr lang="en-US" dirty="0" err="1"/>
              <a:t>geheel</a:t>
            </a:r>
            <a:r>
              <a:rPr lang="en-US" dirty="0"/>
              <a:t> </a:t>
            </a:r>
            <a:r>
              <a:rPr lang="en-US" dirty="0" err="1"/>
              <a:t>volledig</a:t>
            </a:r>
            <a:r>
              <a:rPr lang="en-US" dirty="0"/>
              <a:t> </a:t>
            </a:r>
            <a:r>
              <a:rPr lang="en-US" dirty="0" err="1"/>
              <a:t>doorgestuurd</a:t>
            </a:r>
            <a:r>
              <a:rPr lang="en-US" dirty="0"/>
              <a:t> </a:t>
            </a:r>
            <a:r>
              <a:rPr lang="en-US" dirty="0" err="1"/>
              <a:t>naar</a:t>
            </a:r>
            <a:r>
              <a:rPr lang="en-US" dirty="0"/>
              <a:t> de </a:t>
            </a:r>
            <a:r>
              <a:rPr lang="en-US" dirty="0" err="1"/>
              <a:t>ontvanger</a:t>
            </a:r>
            <a:r>
              <a:rPr lang="en-US" dirty="0"/>
              <a:t> (</a:t>
            </a:r>
            <a:r>
              <a:rPr lang="en-US" dirty="0" err="1"/>
              <a:t>vb</a:t>
            </a:r>
            <a:r>
              <a:rPr lang="en-US" dirty="0"/>
              <a:t>: mail)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Digitale informatie die over computernetwerken wordt rondgestuurd, wordt opgedeeld in pakketjes. In een computernetwerk zijn vaak heel wat verschillende computers tegelijk actief. De pakketjes van de diverse computers maken gebruik van dezelfde datacommunicatielijnen. De manier waarop die gemeenschappelijk datacommunicatielijnen worden gedeeld, heet switching. Daarvoor bestaan verschillende technieken.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28</a:t>
            </a:fld>
            <a:endParaRPr lang="LID4096"/>
          </a:p>
        </p:txBody>
      </p:sp>
    </p:spTree>
    <p:extLst>
      <p:ext uri="{BB962C8B-B14F-4D97-AF65-F5344CB8AC3E}">
        <p14:creationId xmlns:p14="http://schemas.microsoft.com/office/powerpoint/2010/main" val="2353327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analoog signaal kan oneindig veel waarden tussen het minimum en maximum signaal aannemen. Het vormt een continu signaal dat erg in sterkte kan wisselen. Geluid plant zich op deze manier voort in de lucht. Toonhoogte en geluidssterkte kunnen traploos wisselen. Ook over klassieke telefoonlijnen worden signalen analoog overgedragen.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31</a:t>
            </a:fld>
            <a:endParaRPr lang="LID4096"/>
          </a:p>
        </p:txBody>
      </p:sp>
    </p:spTree>
    <p:extLst>
      <p:ext uri="{BB962C8B-B14F-4D97-AF65-F5344CB8AC3E}">
        <p14:creationId xmlns:p14="http://schemas.microsoft.com/office/powerpoint/2010/main" val="962987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digitaal signaal kent een beperkt aantal mogelijke waarden tussen het minimum en maximum signaal. Zo’n signaal kent een getrapt verloop. Hoe minder trappen er zijn, hoe minder zo’n signaal onderhevig is aan de invloeden van vervorming en verzwakking tijdens het verzenden ervan. De reconstructie van een digitaal signaal is dan ook betrekkelijk eenvoudig.</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32</a:t>
            </a:fld>
            <a:endParaRPr lang="LID4096"/>
          </a:p>
        </p:txBody>
      </p:sp>
    </p:spTree>
    <p:extLst>
      <p:ext uri="{BB962C8B-B14F-4D97-AF65-F5344CB8AC3E}">
        <p14:creationId xmlns:p14="http://schemas.microsoft.com/office/powerpoint/2010/main" val="2569687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meeste digitale signalen kennen slechts twee niveaus: 1 en 0. Die worden dan binaire signalen genoemd. Ze zijn de signalen bij uitstek waarmee computers kunnen communiceren.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33</a:t>
            </a:fld>
            <a:endParaRPr lang="LID4096"/>
          </a:p>
        </p:txBody>
      </p:sp>
    </p:spTree>
    <p:extLst>
      <p:ext uri="{BB962C8B-B14F-4D97-AF65-F5344CB8AC3E}">
        <p14:creationId xmlns:p14="http://schemas.microsoft.com/office/powerpoint/2010/main" val="10563476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Het omzetten van digitale signalen naar analoge signalen wordt moduleren genoemd; het omgekeerde heet demoduleren. Zo kan een analoog telefoonsignaal omgezet worden in een digitaal signaal van maximum 64 000 bits. Voor het moduleren en demoduleren van signalen wordt gebruik gemaakt van een modem – de naam van het toestel is trouwens van de begrippen moduleren en demoduleren afgeleid.</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34</a:t>
            </a:fld>
            <a:endParaRPr lang="LID4096"/>
          </a:p>
        </p:txBody>
      </p:sp>
    </p:spTree>
    <p:extLst>
      <p:ext uri="{BB962C8B-B14F-4D97-AF65-F5344CB8AC3E}">
        <p14:creationId xmlns:p14="http://schemas.microsoft.com/office/powerpoint/2010/main" val="41543650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35</a:t>
            </a:fld>
            <a:endParaRPr lang="LID4096"/>
          </a:p>
        </p:txBody>
      </p:sp>
    </p:spTree>
    <p:extLst>
      <p:ext uri="{BB962C8B-B14F-4D97-AF65-F5344CB8AC3E}">
        <p14:creationId xmlns:p14="http://schemas.microsoft.com/office/powerpoint/2010/main" val="4258581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te verzenden bitreeks van een aantal bits wordt een blok genoemd. Bij parallelle gegevensoverdracht worden de bits aan de zenderkant van de communicatielijn klaargezet. De zender verstuurt nu een request-signaal (REQ) naar de ontvanger, om aan te geven dat de bits klaar staan om verzonden te worden. De ontvanger zal een acknowledge-signaal (ACK) terugsturen om aan te geven dat de gegevens binnengekomen zijn en dat de ontvanger klaar is om een volgend block te ontvangen. Dat is het handshake-mechanisme.</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39</a:t>
            </a:fld>
            <a:endParaRPr lang="LID4096"/>
          </a:p>
        </p:txBody>
      </p:sp>
    </p:spTree>
    <p:extLst>
      <p:ext uri="{BB962C8B-B14F-4D97-AF65-F5344CB8AC3E}">
        <p14:creationId xmlns:p14="http://schemas.microsoft.com/office/powerpoint/2010/main" val="9461023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Voor parallelle gegevensoverdracht heb je in de kabel voor elke tegelijk te versturen bit een draad nodig. Bovendien zijn er nog enkele bijkomende draden nodig voor de besturingssignalen REQ en ACK, en voor andere besturingssignalen tussen zender en ontvanger.</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40</a:t>
            </a:fld>
            <a:endParaRPr lang="LID4096"/>
          </a:p>
        </p:txBody>
      </p:sp>
    </p:spTree>
    <p:extLst>
      <p:ext uri="{BB962C8B-B14F-4D97-AF65-F5344CB8AC3E}">
        <p14:creationId xmlns:p14="http://schemas.microsoft.com/office/powerpoint/2010/main" val="21759336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Bij seriële gegevensoverdracht worden de bits een na een verzonden over één enkele lijn. Parallelle signalen van het bussysteem op het moederbord moeten daarvoor omgezet worden naar een serieel signaal. Die omzetting gebeurt door de DCC (data communications controller), een chip die deel uitmaakt van de chipset op het moederbord.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r>
              <a:rPr lang="nl-BE" dirty="0"/>
              <a:t>De ontvanger moet weten waar een teken begint en waar het eindigt. Daarom wordt er aan elk gegeven een afzonderlijk stukje kop- en staartinformatie (de start- en stopbit) toegevoegd. Bovendien wordt nog een pariteitsbit meegestuurd waardoor kan nagegaan worden of het karakter correct werd ontvangen. De zender moet aan de ontvanger vooraf wel duidelijk maken hoeveel bits één teken precies telt, anders weet de ontvanger niet welke de start- en stopbits zijn. Ook de snelheid van de gegevensoverdracht moet op elkaar worden afgestemd. Als de zender de gegevens bijvoorbeeld aan 1200 bps zou verzenden maar de ontvanger zou ze slechts aan 300 bps ontvangen, dan gaat drie vierde van de informatie verloren.</a:t>
            </a:r>
          </a:p>
          <a:p>
            <a:endParaRPr lang="nl-BE" dirty="0"/>
          </a:p>
          <a:p>
            <a:r>
              <a:rPr lang="nl-BE" dirty="0"/>
              <a:t>Deze werkwijze wordt asynchrone seriële gegevensoverdracht genoemd en is fel verouderd, omdat ze weinig efficiënt is. Omdat elk teken van 8 bits (voorheen was een teken zelfs slechts 7 bits) moet voorzien worden van start-, stop- en pariteitsbits, is er behoorlijk wat overhead-informatie die verstuurd wordt: informatie die enkel dient om de communicatie in stand te houden, maar geen inhoudelijke gegevens bevat. Bovendien vormt het synchroniseren van snelheid van de gegevensoverdracht ook een probleem op iets uitgebreidere netwerken. Kortom: erg praktisch is deze manier van werken niet.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Bij synchrone seriële gegevensoverdracht worden gegevens in grotere blokken verstuurd. Enkel het blok in z’n geheel krijgt de kop- en staartinformatie mee. De zender stuurt een kloksignaal mee, waarmee de communicatie gesynchroniseerd wordt. De kans op foute gegevensoverdracht is veel kleiner dan bij asynchrone communicatie en daarom wordt deze manier van gegevensoverdracht toegepast bij netwerken.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LID4096" dirty="0"/>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41</a:t>
            </a:fld>
            <a:endParaRPr lang="LID4096"/>
          </a:p>
        </p:txBody>
      </p:sp>
    </p:spTree>
    <p:extLst>
      <p:ext uri="{BB962C8B-B14F-4D97-AF65-F5344CB8AC3E}">
        <p14:creationId xmlns:p14="http://schemas.microsoft.com/office/powerpoint/2010/main" val="15243910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out: </a:t>
            </a:r>
            <a:r>
              <a:rPr lang="en-US" dirty="0" err="1"/>
              <a:t>wanneer</a:t>
            </a:r>
            <a:r>
              <a:rPr lang="en-US" dirty="0"/>
              <a:t> even </a:t>
            </a:r>
            <a:r>
              <a:rPr lang="en-US" dirty="0" err="1"/>
              <a:t>geen</a:t>
            </a:r>
            <a:r>
              <a:rPr lang="en-US" dirty="0"/>
              <a:t> data </a:t>
            </a:r>
            <a:r>
              <a:rPr lang="en-US" dirty="0" err="1"/>
              <a:t>binnenkomt</a:t>
            </a:r>
            <a:r>
              <a:rPr lang="en-US" dirty="0"/>
              <a:t> is het </a:t>
            </a:r>
            <a:r>
              <a:rPr lang="en-US" dirty="0" err="1"/>
              <a:t>gedaan</a:t>
            </a:r>
            <a:endParaRPr lang="en-US" dirty="0"/>
          </a:p>
          <a:p>
            <a:r>
              <a:rPr lang="en-US" dirty="0"/>
              <a:t>Byte-count: op </a:t>
            </a:r>
            <a:r>
              <a:rPr lang="en-US" dirty="0" err="1"/>
              <a:t>voorhand</a:t>
            </a:r>
            <a:r>
              <a:rPr lang="en-US" dirty="0"/>
              <a:t> </a:t>
            </a:r>
            <a:r>
              <a:rPr lang="en-US" dirty="0" err="1"/>
              <a:t>doorgegeven</a:t>
            </a:r>
            <a:r>
              <a:rPr lang="en-US" dirty="0"/>
              <a:t> </a:t>
            </a:r>
            <a:r>
              <a:rPr lang="en-US" dirty="0" err="1"/>
              <a:t>hoeveel</a:t>
            </a:r>
            <a:r>
              <a:rPr lang="en-US" dirty="0"/>
              <a:t> bytes er </a:t>
            </a:r>
            <a:r>
              <a:rPr lang="en-US" dirty="0" err="1"/>
              <a:t>toekomen</a:t>
            </a:r>
            <a:endParaRPr lang="en-US" dirty="0"/>
          </a:p>
          <a:p>
            <a:r>
              <a:rPr lang="en-US" dirty="0"/>
              <a:t>End-of-message: </a:t>
            </a:r>
            <a:r>
              <a:rPr lang="en-US" dirty="0" err="1"/>
              <a:t>een</a:t>
            </a:r>
            <a:r>
              <a:rPr lang="en-US" dirty="0"/>
              <a:t> </a:t>
            </a:r>
            <a:r>
              <a:rPr lang="en-US" dirty="0" err="1"/>
              <a:t>afge</a:t>
            </a:r>
            <a:endParaRPr lang="en-US" dirty="0"/>
          </a:p>
          <a:p>
            <a:endParaRPr lang="en-US" dirty="0"/>
          </a:p>
          <a:p>
            <a:r>
              <a:rPr lang="nl-BE" dirty="0"/>
              <a:t>Tussen zender en ontvanger moet een afspraak worden gemaakt op welke manier de ontvanger kan weten dat het verzenden van de informatie beëindigd is. Daarvoor bestaan 3 methodes.</a:t>
            </a:r>
          </a:p>
          <a:p>
            <a:endParaRPr lang="nl-BE" dirty="0"/>
          </a:p>
          <a:p>
            <a:r>
              <a:rPr lang="nl-BE" dirty="0">
                <a:sym typeface="Wingdings" panose="05000000000000000000" pitchFamily="2" charset="2"/>
              </a:rPr>
              <a:t> </a:t>
            </a:r>
            <a:r>
              <a:rPr lang="nl-BE" dirty="0"/>
              <a:t>Wanneer er gedurende een vooraf vastgelegde tijd geen informatie meer wordt doorgegeven, wordt aangenomen dat het verzenden van de boodschap beëindigd is. Dit is de time-out methode en is bij moderne netwerken weinig betrouwbaar, omdat de kleinste onderbreking de communicatie ongewild kan doen mislukken. In druk gebruikte netwerken komen zulke kleine onderbrekingen voortdurend voor.</a:t>
            </a:r>
          </a:p>
          <a:p>
            <a:endParaRPr lang="nl-BE" dirty="0"/>
          </a:p>
          <a:p>
            <a:r>
              <a:rPr lang="nl-BE" dirty="0"/>
              <a:t>Bij de byte-count methode geeft de zender bij aanvang van de communicatie aan de ontvanger het aantal bytes van het bericht door. De ontvanger telt het aantal ontvangen bytes. Wanneer het aantal bytes bereikt is, wordt het bericht als beëindigd beschouwd. Ook deze methode is echter storingsgevoelig en daarom niet betrouwbaar bij moderne netwerken. Indien een storing op het netwerk enkele bits doet verloren gaan aan de communicatie, klopt het aantal opgegeven bytes niet meer en wordt de verbinding ofwel vroegtijdig ofwel niet correct stopgezet.</a:t>
            </a:r>
          </a:p>
          <a:p>
            <a:endParaRPr lang="nl-BE" dirty="0"/>
          </a:p>
          <a:p>
            <a:r>
              <a:rPr lang="nl-BE" dirty="0"/>
              <a:t>Als er vooraf een bepaalde bitcode wordt afgesproken, die aangeeft dat het bericht ten einde is, spreken we van de end-of-messageteken methode. De zender geeft als laatste teken die afgesproken bitcode door, zodat de ontvanger weet dat het bericht beëindigd is. Deze methode is de zekerste, maar kent toch één zwakte: als door storingen op het netwerk de bitcode die het einde van het bericht markeert zou gewijzigd worden, kan er een beslissingsprobleem optreden over het beëindigen van de communicatie. Om dit te vermijden wordt deze bitcode mee opgenomen in de pariteitscontrole van het bericht. Als er dan onderweg iets misloopt, kan de ontvanger de verzender indien nodig vragen om het bericht opnieuw te verzenden.</a:t>
            </a:r>
          </a:p>
          <a:p>
            <a:endParaRPr lang="nl-BE" dirty="0"/>
          </a:p>
          <a:p>
            <a:r>
              <a:rPr lang="en-US" dirty="0" err="1"/>
              <a:t>sproken</a:t>
            </a:r>
            <a:r>
              <a:rPr lang="en-US" dirty="0"/>
              <a:t> </a:t>
            </a:r>
            <a:r>
              <a:rPr lang="en-US" dirty="0" err="1"/>
              <a:t>bytecompositie</a:t>
            </a:r>
            <a:r>
              <a:rPr lang="en-US" dirty="0"/>
              <a:t> op het </a:t>
            </a:r>
            <a:r>
              <a:rPr lang="en-US" dirty="0" err="1"/>
              <a:t>einde</a:t>
            </a:r>
            <a:r>
              <a:rPr lang="en-US" dirty="0"/>
              <a:t> van de </a:t>
            </a:r>
            <a:r>
              <a:rPr lang="en-US" dirty="0" err="1"/>
              <a:t>transmissie</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42</a:t>
            </a:fld>
            <a:endParaRPr lang="LID4096"/>
          </a:p>
        </p:txBody>
      </p:sp>
    </p:spTree>
    <p:extLst>
      <p:ext uri="{BB962C8B-B14F-4D97-AF65-F5344CB8AC3E}">
        <p14:creationId xmlns:p14="http://schemas.microsoft.com/office/powerpoint/2010/main" val="30516635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is er </a:t>
            </a:r>
            <a:r>
              <a:rPr lang="en-US" dirty="0" err="1"/>
              <a:t>beter</a:t>
            </a:r>
            <a:r>
              <a:rPr lang="en-US" dirty="0"/>
              <a:t> </a:t>
            </a:r>
            <a:r>
              <a:rPr lang="en-US" dirty="0" err="1"/>
              <a:t>Serieel</a:t>
            </a:r>
            <a:r>
              <a:rPr lang="en-US" dirty="0"/>
              <a:t> of </a:t>
            </a:r>
            <a:r>
              <a:rPr lang="en-US" dirty="0" err="1"/>
              <a:t>Parellel</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Je zou kunnen verwachten dat parallelle gegevensoverdracht een stuk sneller is dan seriële gegevensoverdracht, omdat in het eerste geval een aantal bits tegelijk kunnen worden doorgestuurd. Dat was zeker zo in de begindagen van de personal computers, maar tegenwoordig is de technologie van DCC’s zo hoogwaardig dat moderne seriële verbindingen vele malen sneller zijn dan traditionele parallelle verbindingen. Bovendien is bekabeling voor seriële gegevensoverdracht veel eenvoudiger en dus goedkoper te produceren. Daarom zijn alle externe verbindingen van en naar de computer tegenwoordig serieel, of het nu om verbindingen met randapparaten (zoals USB of HDMI) of om netwerkverbindingen gaat.</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43</a:t>
            </a:fld>
            <a:endParaRPr lang="LID4096"/>
          </a:p>
        </p:txBody>
      </p:sp>
    </p:spTree>
    <p:extLst>
      <p:ext uri="{BB962C8B-B14F-4D97-AF65-F5344CB8AC3E}">
        <p14:creationId xmlns:p14="http://schemas.microsoft.com/office/powerpoint/2010/main" val="11040735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snelheid waarmee gegevens verstuurd worden over een netwerk, wordt uitgedrukt in bits per seconde (bps). Snellere verbindingen worden dan uitgedrukt in kilobits of megabits per seconde. De afkortingen voor die laatste zijn soms verwarrend. Kbps staat dan voor kilobits per seconde, maar dat durft men ook wel eens foutief kilobytes per seconde noemen, een eenheid die bij parallelle gegevensoverdracht wordt gebruikt. Om zeker geen verwarring mogelijk te maken worden daarom ook de afkortingen Kbit/s,  Mbit/s of Gbit/s gebruikt – ook in dit boek trouwens. In tegenstelling tot gegevensopslag zijn de eenheden van gegevensoverdracht verder niet op het binair talstelsel gebaseerd. 1 Kbit/s betekent dus 1000 bits per seconde en geen 1024. 1 Mbit/s is dus precies 1 miljoen bits per seconde.</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45</a:t>
            </a:fld>
            <a:endParaRPr lang="LID4096"/>
          </a:p>
        </p:txBody>
      </p:sp>
    </p:spTree>
    <p:extLst>
      <p:ext uri="{BB962C8B-B14F-4D97-AF65-F5344CB8AC3E}">
        <p14:creationId xmlns:p14="http://schemas.microsoft.com/office/powerpoint/2010/main" val="4208977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verband met de snelheid van gegevensoverdracht wordt vaak het begrip bandbreedte gebruikt. Daarmee wordt het verschil aangeduid tussen de hoogste en de laagste frequentie op een transmissiemedium. Niet alleen het type van transmissiemedium (dus het soort kabel) is daarbij van belang, maar ook de lengte ervan. Daarom kent elk kabeltype een maximale lengte die moet gerespecteerd worden. In te lange kabels kunnen immers de hoogste frequenties afzwakken, waardoor er fouten in de gegevensoverdracht kunnen optreden. Strikt genomen gaat bandbreedte dus over frequentie. De eenheid van bandbreedte wordt dus uitgedrukt in Hz, KHz of MHz.</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46</a:t>
            </a:fld>
            <a:endParaRPr lang="LID4096"/>
          </a:p>
        </p:txBody>
      </p:sp>
    </p:spTree>
    <p:extLst>
      <p:ext uri="{BB962C8B-B14F-4D97-AF65-F5344CB8AC3E}">
        <p14:creationId xmlns:p14="http://schemas.microsoft.com/office/powerpoint/2010/main" val="2998108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Het spreekt voor zich dat een grotere bandbreedte een snellere gegevensdoorvoersnelheid mogelijk maakt. Bandbreedte uitdrukken in frequentie-eenheden als Hz heeft voor computergebruikers weinig concrete betekenis, omdat ze niet uitdrukt hoe snel de gegevens daadwerkelijk verzonden worden. Daarom wordt bandbreedte ook wel eens uitgedrukt in bps, hoewel dat dus niet correct is. Niet altijd wordt de maximale bandbreedte van een verbinding immers benut. De doorvoersnelheid is dan variabel, terwijl de bandbreedte van het transmissiemedium natuurlijk altijd dezelfde is.</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47</a:t>
            </a:fld>
            <a:endParaRPr lang="LID4096"/>
          </a:p>
        </p:txBody>
      </p:sp>
    </p:spTree>
    <p:extLst>
      <p:ext uri="{BB962C8B-B14F-4D97-AF65-F5344CB8AC3E}">
        <p14:creationId xmlns:p14="http://schemas.microsoft.com/office/powerpoint/2010/main" val="34817405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De capaciteit van een transmissiemedium kan op twee manieren worden toegekend. Bij baseband wordt de volledige bandbreedte toegekend aan één communicatieverbinding. </a:t>
            </a:r>
          </a:p>
          <a:p>
            <a:endParaRPr lang="nl-BE" dirty="0"/>
          </a:p>
          <a:p>
            <a:r>
              <a:rPr lang="nl-BE" dirty="0"/>
              <a:t>Bij broadband (in het Nederlands breedband) wordt de bandbreedte gedeeld door twee of meer verbindingen. </a:t>
            </a:r>
          </a:p>
          <a:p>
            <a:endParaRPr lang="nl-BE" dirty="0"/>
          </a:p>
          <a:p>
            <a:r>
              <a:rPr lang="nl-BE" dirty="0"/>
              <a:t>De meeste lokale netwerkverbindingen werken in baseband modus, maar verbindingen tussen netwerken, zoals het internet, zijn vaak breedbandverbindingen. </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48</a:t>
            </a:fld>
            <a:endParaRPr lang="LID4096"/>
          </a:p>
        </p:txBody>
      </p:sp>
    </p:spTree>
    <p:extLst>
      <p:ext uri="{BB962C8B-B14F-4D97-AF65-F5344CB8AC3E}">
        <p14:creationId xmlns:p14="http://schemas.microsoft.com/office/powerpoint/2010/main" val="985660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CDEDA-5DDF-AE5F-0024-5AF9BAF7BE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52BA3A93-F56D-02C0-520C-B00AA28F14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A30473AE-6F6C-E19D-A89F-A7907DC9C8EE}"/>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5" name="Footer Placeholder 4">
            <a:extLst>
              <a:ext uri="{FF2B5EF4-FFF2-40B4-BE49-F238E27FC236}">
                <a16:creationId xmlns:a16="http://schemas.microsoft.com/office/drawing/2014/main" id="{CF5E8CC4-87A5-FAE1-2BF3-58B290777AB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5D51373-3C55-C942-5930-6917B0012DB9}"/>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1341806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4EC73-A480-80EF-93F8-3B0FA28EFFE7}"/>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85EE4AED-2CE3-C27E-05E8-F0E8373342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56C6C0D2-DBEC-29E2-A138-E9707A7B1F37}"/>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5" name="Footer Placeholder 4">
            <a:extLst>
              <a:ext uri="{FF2B5EF4-FFF2-40B4-BE49-F238E27FC236}">
                <a16:creationId xmlns:a16="http://schemas.microsoft.com/office/drawing/2014/main" id="{2DF8B506-6E6B-AF4B-0801-0A7501A1831C}"/>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8FD5333-B8B5-21F8-9583-6B0F32062B1F}"/>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611654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CBB6F-2EE2-4443-5A4B-6A62FE725D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1946C52F-3B95-7FDA-48D9-9152ABEF01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D5012C-ADA0-A193-F209-CD03573DBF54}"/>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5" name="Footer Placeholder 4">
            <a:extLst>
              <a:ext uri="{FF2B5EF4-FFF2-40B4-BE49-F238E27FC236}">
                <a16:creationId xmlns:a16="http://schemas.microsoft.com/office/drawing/2014/main" id="{430D4AC6-49F8-9F7D-150D-F1F35251FE1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7AA9E9F-0781-77FE-1643-5A634E2B1A15}"/>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238578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F472-B3D9-C143-E6A6-C8CCD3B31DE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8E935D6-0485-0D0D-290B-30A88D0608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CE7B6902-5973-7E6E-0B1D-1299A7EC62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4E22FACA-5F98-7A55-2ACC-808E2FCAE1B3}"/>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6" name="Footer Placeholder 5">
            <a:extLst>
              <a:ext uri="{FF2B5EF4-FFF2-40B4-BE49-F238E27FC236}">
                <a16:creationId xmlns:a16="http://schemas.microsoft.com/office/drawing/2014/main" id="{81D44DE1-F426-7EBE-D7E4-E482B9477007}"/>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E58D0AF-1741-FDEB-E9B6-072F9CC0C97F}"/>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443107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A0DB4-0B1B-22E5-9165-B6A7D9A037E3}"/>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5C03B190-D646-FF89-7AF7-38289DF353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587140-FF2A-E40E-6915-F13CFECDBF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BD1C1D04-192E-A793-93F6-0E659EE513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CC3B9-E42D-A17D-2AE4-270C4B60EF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E9F900EB-45B2-A2CA-DCDC-EDE4CC4491F8}"/>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8" name="Footer Placeholder 7">
            <a:extLst>
              <a:ext uri="{FF2B5EF4-FFF2-40B4-BE49-F238E27FC236}">
                <a16:creationId xmlns:a16="http://schemas.microsoft.com/office/drawing/2014/main" id="{6B1EB89A-C89E-92B6-CA96-66E9758F3532}"/>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855481FD-1637-9A70-CAD5-691CFC676F65}"/>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147664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CA59-AA87-C7F6-39DD-8CA86C435D73}"/>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0672EE45-C972-1B04-270F-727DDDF5A5DB}"/>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4" name="Footer Placeholder 3">
            <a:extLst>
              <a:ext uri="{FF2B5EF4-FFF2-40B4-BE49-F238E27FC236}">
                <a16:creationId xmlns:a16="http://schemas.microsoft.com/office/drawing/2014/main" id="{145A254E-A54B-A8FE-2F13-DE1A482CA7EF}"/>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6CF8626D-4F4F-4137-C230-06EBB74541F4}"/>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2322526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0CFBB4-586D-D95D-5AAA-808AF221A4FA}"/>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3" name="Footer Placeholder 2">
            <a:extLst>
              <a:ext uri="{FF2B5EF4-FFF2-40B4-BE49-F238E27FC236}">
                <a16:creationId xmlns:a16="http://schemas.microsoft.com/office/drawing/2014/main" id="{394EB97B-550C-ED91-B1C4-07DDC5F3D3D0}"/>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B2E9671B-82B0-D58B-31ED-9D87724EC28B}"/>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3967254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F07D3-8CEF-245F-A410-C1C605548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247850C9-C4DD-112A-965E-6D82D1F3F6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0333FA5C-29CB-EDEE-FFB8-5EFA8F4FA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66C2A9-1914-73FE-AA5A-386B8FFB7C32}"/>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6" name="Footer Placeholder 5">
            <a:extLst>
              <a:ext uri="{FF2B5EF4-FFF2-40B4-BE49-F238E27FC236}">
                <a16:creationId xmlns:a16="http://schemas.microsoft.com/office/drawing/2014/main" id="{1550E2C1-572E-ED05-BBFD-C4B5EB0045CE}"/>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4F705A95-6CC8-073B-482F-55C893EACA78}"/>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12510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2DB6F-F2B5-A1F3-E011-0568556C5A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3753B15A-7B51-5283-2DDF-ADA55A8959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D669A0F2-FBAD-6B41-78CD-8D57200081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6BAC3B-4029-78CC-C2CE-925DFE38AFC5}"/>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6" name="Footer Placeholder 5">
            <a:extLst>
              <a:ext uri="{FF2B5EF4-FFF2-40B4-BE49-F238E27FC236}">
                <a16:creationId xmlns:a16="http://schemas.microsoft.com/office/drawing/2014/main" id="{6BB83A3C-E3E5-29BC-225A-66C7E6DB089C}"/>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F57B1896-8316-2AF4-2051-6B49EC0EF33B}"/>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88853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E559-5257-AB44-9D63-9F769BC69860}"/>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A432BD4F-E6BF-8F08-370B-F9F3770EA3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24FC593-996A-FB35-F8FE-AB751F47614A}"/>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5" name="Footer Placeholder 4">
            <a:extLst>
              <a:ext uri="{FF2B5EF4-FFF2-40B4-BE49-F238E27FC236}">
                <a16:creationId xmlns:a16="http://schemas.microsoft.com/office/drawing/2014/main" id="{5FB4FFB6-0DBA-D05A-604B-197CEE7313F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05944A5-B4A9-3AF0-A8FE-1EB10E72663A}"/>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2366204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DCAEC7-3484-3C0F-7BC7-4BE6181279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96BE809D-2862-298A-9AAE-88B79AFB3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637BBBA5-DBB3-ED5B-5B3E-A843B784A93C}"/>
              </a:ext>
            </a:extLst>
          </p:cNvPr>
          <p:cNvSpPr>
            <a:spLocks noGrp="1"/>
          </p:cNvSpPr>
          <p:nvPr>
            <p:ph type="dt" sz="half" idx="10"/>
          </p:nvPr>
        </p:nvSpPr>
        <p:spPr/>
        <p:txBody>
          <a:bodyPr/>
          <a:lstStyle/>
          <a:p>
            <a:fld id="{D3EA6F85-C7EF-46CA-93F8-B25B71153B91}" type="datetimeFigureOut">
              <a:rPr lang="LID4096" smtClean="0"/>
              <a:t>11/25/2025</a:t>
            </a:fld>
            <a:endParaRPr lang="LID4096"/>
          </a:p>
        </p:txBody>
      </p:sp>
      <p:sp>
        <p:nvSpPr>
          <p:cNvPr id="5" name="Footer Placeholder 4">
            <a:extLst>
              <a:ext uri="{FF2B5EF4-FFF2-40B4-BE49-F238E27FC236}">
                <a16:creationId xmlns:a16="http://schemas.microsoft.com/office/drawing/2014/main" id="{87DA711C-896B-9D17-5455-3AE8D30E8FE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7B0DA57-9F8D-AF1F-9EB3-6AD7FC798DD0}"/>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2639883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84F840-61F1-15C0-AEB6-1E8A21AD12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B0CCF2C3-2995-5445-C4A4-62D1461AA0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0B95A55-C451-F048-2844-F1D4DF5790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EA6F85-C7EF-46CA-93F8-B25B71153B91}" type="datetimeFigureOut">
              <a:rPr lang="LID4096" smtClean="0"/>
              <a:t>11/25/2025</a:t>
            </a:fld>
            <a:endParaRPr lang="LID4096"/>
          </a:p>
        </p:txBody>
      </p:sp>
      <p:sp>
        <p:nvSpPr>
          <p:cNvPr id="5" name="Footer Placeholder 4">
            <a:extLst>
              <a:ext uri="{FF2B5EF4-FFF2-40B4-BE49-F238E27FC236}">
                <a16:creationId xmlns:a16="http://schemas.microsoft.com/office/drawing/2014/main" id="{96FEB44C-294D-5C5B-379E-FA47AB0817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49B909FF-9EE5-C9D1-5AB6-BEEF84D94B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C095DA-ABED-4837-9A98-9D6E068065A3}" type="slidenum">
              <a:rPr lang="LID4096" smtClean="0"/>
              <a:t>‹#›</a:t>
            </a:fld>
            <a:endParaRPr lang="LID4096"/>
          </a:p>
        </p:txBody>
      </p:sp>
    </p:spTree>
    <p:extLst>
      <p:ext uri="{BB962C8B-B14F-4D97-AF65-F5344CB8AC3E}">
        <p14:creationId xmlns:p14="http://schemas.microsoft.com/office/powerpoint/2010/main" val="3280885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8.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3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microsoft.com/office/2007/relationships/hdphoto" Target="../media/hdphoto2.wdp"/></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F0FB6-15BA-72AB-CFF0-CDB9E7EE53CE}"/>
              </a:ext>
            </a:extLst>
          </p:cNvPr>
          <p:cNvSpPr>
            <a:spLocks noGrp="1"/>
          </p:cNvSpPr>
          <p:nvPr>
            <p:ph type="ctrTitle"/>
          </p:nvPr>
        </p:nvSpPr>
        <p:spPr>
          <a:xfrm>
            <a:off x="1524000" y="1520948"/>
            <a:ext cx="9144000" cy="2387600"/>
          </a:xfrm>
        </p:spPr>
        <p:txBody>
          <a:bodyPr/>
          <a:lstStyle/>
          <a:p>
            <a:r>
              <a:rPr lang="en-US" sz="7200" dirty="0" err="1"/>
              <a:t>DataCommunicatie</a:t>
            </a:r>
            <a:endParaRPr lang="LID4096" dirty="0"/>
          </a:p>
        </p:txBody>
      </p:sp>
    </p:spTree>
    <p:extLst>
      <p:ext uri="{BB962C8B-B14F-4D97-AF65-F5344CB8AC3E}">
        <p14:creationId xmlns:p14="http://schemas.microsoft.com/office/powerpoint/2010/main" val="189067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ntroduction to Business Computer Networks">
            <a:extLst>
              <a:ext uri="{FF2B5EF4-FFF2-40B4-BE49-F238E27FC236}">
                <a16:creationId xmlns:a16="http://schemas.microsoft.com/office/drawing/2014/main" id="{093F28F9-E3A3-0B98-7622-3055411E1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375" y="0"/>
            <a:ext cx="89836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3516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5CFED-947F-75A4-D6A8-FDFAD79519BC}"/>
              </a:ext>
            </a:extLst>
          </p:cNvPr>
          <p:cNvSpPr>
            <a:spLocks noGrp="1"/>
          </p:cNvSpPr>
          <p:nvPr>
            <p:ph type="title"/>
          </p:nvPr>
        </p:nvSpPr>
        <p:spPr/>
        <p:txBody>
          <a:bodyPr/>
          <a:lstStyle/>
          <a:p>
            <a:r>
              <a:rPr lang="en-US" dirty="0" err="1"/>
              <a:t>Doelen</a:t>
            </a:r>
            <a:r>
              <a:rPr lang="en-US" dirty="0"/>
              <a:t> </a:t>
            </a:r>
            <a:r>
              <a:rPr lang="en-US" dirty="0" err="1"/>
              <a:t>Computernetwerken</a:t>
            </a:r>
            <a:endParaRPr lang="LID4096" dirty="0"/>
          </a:p>
        </p:txBody>
      </p:sp>
      <p:sp>
        <p:nvSpPr>
          <p:cNvPr id="3" name="Content Placeholder 2">
            <a:extLst>
              <a:ext uri="{FF2B5EF4-FFF2-40B4-BE49-F238E27FC236}">
                <a16:creationId xmlns:a16="http://schemas.microsoft.com/office/drawing/2014/main" id="{C10DA564-43FF-1CB6-1F3D-AED1F3EF68A7}"/>
              </a:ext>
            </a:extLst>
          </p:cNvPr>
          <p:cNvSpPr>
            <a:spLocks noGrp="1"/>
          </p:cNvSpPr>
          <p:nvPr>
            <p:ph idx="1"/>
          </p:nvPr>
        </p:nvSpPr>
        <p:spPr/>
        <p:txBody>
          <a:bodyPr/>
          <a:lstStyle/>
          <a:p>
            <a:r>
              <a:rPr lang="en-US" dirty="0" err="1"/>
              <a:t>Gemeenschappelijk</a:t>
            </a:r>
            <a:r>
              <a:rPr lang="en-US" dirty="0"/>
              <a:t> </a:t>
            </a:r>
            <a:r>
              <a:rPr lang="en-US" dirty="0" err="1"/>
              <a:t>gebruik</a:t>
            </a:r>
            <a:endParaRPr lang="en-US" dirty="0"/>
          </a:p>
          <a:p>
            <a:r>
              <a:rPr lang="en-US" dirty="0" err="1"/>
              <a:t>Eenvoudig</a:t>
            </a:r>
            <a:r>
              <a:rPr lang="en-US" dirty="0"/>
              <a:t> </a:t>
            </a:r>
            <a:r>
              <a:rPr lang="en-US" dirty="0" err="1"/>
              <a:t>systeembeheer</a:t>
            </a:r>
            <a:endParaRPr lang="en-US" dirty="0"/>
          </a:p>
          <a:p>
            <a:r>
              <a:rPr lang="en-US" dirty="0" err="1"/>
              <a:t>Beveiliging</a:t>
            </a:r>
            <a:endParaRPr lang="en-US" dirty="0"/>
          </a:p>
          <a:p>
            <a:r>
              <a:rPr lang="en-US" dirty="0" err="1"/>
              <a:t>Financiëel</a:t>
            </a:r>
            <a:r>
              <a:rPr lang="en-US" dirty="0"/>
              <a:t> </a:t>
            </a:r>
            <a:r>
              <a:rPr lang="en-US" dirty="0" err="1"/>
              <a:t>voordelig</a:t>
            </a:r>
            <a:endParaRPr lang="LID4096" dirty="0"/>
          </a:p>
        </p:txBody>
      </p:sp>
    </p:spTree>
    <p:extLst>
      <p:ext uri="{BB962C8B-B14F-4D97-AF65-F5344CB8AC3E}">
        <p14:creationId xmlns:p14="http://schemas.microsoft.com/office/powerpoint/2010/main" val="2790599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19CE7-F232-0BF5-45AC-3ABD4EAB5B12}"/>
              </a:ext>
            </a:extLst>
          </p:cNvPr>
          <p:cNvSpPr>
            <a:spLocks noGrp="1"/>
          </p:cNvSpPr>
          <p:nvPr>
            <p:ph type="title"/>
          </p:nvPr>
        </p:nvSpPr>
        <p:spPr/>
        <p:txBody>
          <a:bodyPr/>
          <a:lstStyle/>
          <a:p>
            <a:r>
              <a:rPr lang="en-US" dirty="0" err="1"/>
              <a:t>Communicatie</a:t>
            </a:r>
            <a:endParaRPr lang="LID4096" dirty="0"/>
          </a:p>
        </p:txBody>
      </p:sp>
      <p:pic>
        <p:nvPicPr>
          <p:cNvPr id="4" name="Picture 2" descr="Zusters Geheim Fluisteren - Gratis foto op Pixabay">
            <a:extLst>
              <a:ext uri="{FF2B5EF4-FFF2-40B4-BE49-F238E27FC236}">
                <a16:creationId xmlns:a16="http://schemas.microsoft.com/office/drawing/2014/main" id="{CBB36D79-5E30-59A7-F66E-35DA5D3BC7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83" b="22962"/>
          <a:stretch/>
        </p:blipFill>
        <p:spPr bwMode="auto">
          <a:xfrm>
            <a:off x="1245268" y="2391769"/>
            <a:ext cx="4850732" cy="28477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ow to Add a Printer to Your Windows 10 Desktop or Laptop">
            <a:extLst>
              <a:ext uri="{FF2B5EF4-FFF2-40B4-BE49-F238E27FC236}">
                <a16:creationId xmlns:a16="http://schemas.microsoft.com/office/drawing/2014/main" id="{C0F223E7-0F80-F93C-2095-0CCCABFAE4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20" r="6178"/>
          <a:stretch/>
        </p:blipFill>
        <p:spPr bwMode="auto">
          <a:xfrm>
            <a:off x="6288504" y="2387029"/>
            <a:ext cx="4860758" cy="2852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73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E31A-5B6F-1F2C-8973-0670F2DC5C64}"/>
              </a:ext>
            </a:extLst>
          </p:cNvPr>
          <p:cNvSpPr>
            <a:spLocks noGrp="1"/>
          </p:cNvSpPr>
          <p:nvPr>
            <p:ph type="title"/>
          </p:nvPr>
        </p:nvSpPr>
        <p:spPr/>
        <p:txBody>
          <a:bodyPr/>
          <a:lstStyle/>
          <a:p>
            <a:r>
              <a:rPr lang="en-US" dirty="0" err="1"/>
              <a:t>Communicatie</a:t>
            </a:r>
            <a:endParaRPr lang="LID4096" dirty="0"/>
          </a:p>
        </p:txBody>
      </p:sp>
      <p:cxnSp>
        <p:nvCxnSpPr>
          <p:cNvPr id="4" name="Rechte verbindingslijn 13">
            <a:extLst>
              <a:ext uri="{FF2B5EF4-FFF2-40B4-BE49-F238E27FC236}">
                <a16:creationId xmlns:a16="http://schemas.microsoft.com/office/drawing/2014/main" id="{917A8D15-5B67-729D-A25B-6BB00B23BFE6}"/>
              </a:ext>
            </a:extLst>
          </p:cNvPr>
          <p:cNvCxnSpPr>
            <a:cxnSpLocks/>
          </p:cNvCxnSpPr>
          <p:nvPr/>
        </p:nvCxnSpPr>
        <p:spPr>
          <a:xfrm>
            <a:off x="3557027" y="3429002"/>
            <a:ext cx="6716141" cy="0"/>
          </a:xfrm>
          <a:prstGeom prst="line">
            <a:avLst/>
          </a:prstGeom>
          <a:ln w="76200"/>
        </p:spPr>
        <p:style>
          <a:lnRef idx="3">
            <a:schemeClr val="accent2"/>
          </a:lnRef>
          <a:fillRef idx="0">
            <a:schemeClr val="accent2"/>
          </a:fillRef>
          <a:effectRef idx="2">
            <a:schemeClr val="accent2"/>
          </a:effectRef>
          <a:fontRef idx="minor">
            <a:schemeClr val="tx1"/>
          </a:fontRef>
        </p:style>
      </p:cxnSp>
      <p:sp>
        <p:nvSpPr>
          <p:cNvPr id="5" name="Ovaal 14">
            <a:extLst>
              <a:ext uri="{FF2B5EF4-FFF2-40B4-BE49-F238E27FC236}">
                <a16:creationId xmlns:a16="http://schemas.microsoft.com/office/drawing/2014/main" id="{754C0DA0-F4BC-36BF-3716-991510C24033}"/>
              </a:ext>
            </a:extLst>
          </p:cNvPr>
          <p:cNvSpPr/>
          <p:nvPr/>
        </p:nvSpPr>
        <p:spPr>
          <a:xfrm>
            <a:off x="1729340" y="2336801"/>
            <a:ext cx="2063412" cy="2067115"/>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6" name="Ovaal 15">
            <a:extLst>
              <a:ext uri="{FF2B5EF4-FFF2-40B4-BE49-F238E27FC236}">
                <a16:creationId xmlns:a16="http://schemas.microsoft.com/office/drawing/2014/main" id="{8AA2F791-2CC4-9DE7-0566-0C8FCEF3D167}"/>
              </a:ext>
            </a:extLst>
          </p:cNvPr>
          <p:cNvSpPr/>
          <p:nvPr/>
        </p:nvSpPr>
        <p:spPr>
          <a:xfrm>
            <a:off x="9314969" y="2395442"/>
            <a:ext cx="2063412" cy="2067115"/>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sp>
        <p:nvSpPr>
          <p:cNvPr id="7" name="Tekstvak 3">
            <a:extLst>
              <a:ext uri="{FF2B5EF4-FFF2-40B4-BE49-F238E27FC236}">
                <a16:creationId xmlns:a16="http://schemas.microsoft.com/office/drawing/2014/main" id="{0D0AC2AE-E96A-66DF-DC0D-C0E02E50958B}"/>
              </a:ext>
            </a:extLst>
          </p:cNvPr>
          <p:cNvSpPr txBox="1"/>
          <p:nvPr/>
        </p:nvSpPr>
        <p:spPr>
          <a:xfrm>
            <a:off x="5163688" y="2724248"/>
            <a:ext cx="3839257" cy="523220"/>
          </a:xfrm>
          <a:prstGeom prst="rect">
            <a:avLst/>
          </a:prstGeom>
          <a:noFill/>
        </p:spPr>
        <p:txBody>
          <a:bodyPr wrap="square" rtlCol="0">
            <a:spAutoFit/>
          </a:bodyPr>
          <a:lstStyle/>
          <a:p>
            <a:r>
              <a:rPr lang="nl-BE" sz="2800" dirty="0">
                <a:latin typeface="Barlow Condensed Medium" panose="00000606000000000000" pitchFamily="2" charset="0"/>
              </a:rPr>
              <a:t>communicatiekanaal</a:t>
            </a:r>
          </a:p>
        </p:txBody>
      </p:sp>
    </p:spTree>
    <p:extLst>
      <p:ext uri="{BB962C8B-B14F-4D97-AF65-F5344CB8AC3E}">
        <p14:creationId xmlns:p14="http://schemas.microsoft.com/office/powerpoint/2010/main" val="4087933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16853-8C52-EF12-6BEE-309D707AD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3E9C2-2B05-BAD7-15BE-0AA165F91C4D}"/>
              </a:ext>
            </a:extLst>
          </p:cNvPr>
          <p:cNvSpPr>
            <a:spLocks noGrp="1"/>
          </p:cNvSpPr>
          <p:nvPr>
            <p:ph type="title"/>
          </p:nvPr>
        </p:nvSpPr>
        <p:spPr/>
        <p:txBody>
          <a:bodyPr/>
          <a:lstStyle/>
          <a:p>
            <a:r>
              <a:rPr lang="en-US" dirty="0" err="1"/>
              <a:t>Communicatie</a:t>
            </a:r>
            <a:endParaRPr lang="LID4096" dirty="0"/>
          </a:p>
        </p:txBody>
      </p:sp>
      <p:cxnSp>
        <p:nvCxnSpPr>
          <p:cNvPr id="4" name="Rechte verbindingslijn 13">
            <a:extLst>
              <a:ext uri="{FF2B5EF4-FFF2-40B4-BE49-F238E27FC236}">
                <a16:creationId xmlns:a16="http://schemas.microsoft.com/office/drawing/2014/main" id="{4C49B9D7-AE90-5F83-6AD6-397B1EBA13CD}"/>
              </a:ext>
            </a:extLst>
          </p:cNvPr>
          <p:cNvCxnSpPr>
            <a:cxnSpLocks/>
          </p:cNvCxnSpPr>
          <p:nvPr/>
        </p:nvCxnSpPr>
        <p:spPr>
          <a:xfrm>
            <a:off x="3557027" y="3429002"/>
            <a:ext cx="6716141" cy="0"/>
          </a:xfrm>
          <a:prstGeom prst="line">
            <a:avLst/>
          </a:prstGeom>
          <a:ln w="76200"/>
        </p:spPr>
        <p:style>
          <a:lnRef idx="3">
            <a:schemeClr val="accent2"/>
          </a:lnRef>
          <a:fillRef idx="0">
            <a:schemeClr val="accent2"/>
          </a:fillRef>
          <a:effectRef idx="2">
            <a:schemeClr val="accent2"/>
          </a:effectRef>
          <a:fontRef idx="minor">
            <a:schemeClr val="tx1"/>
          </a:fontRef>
        </p:style>
      </p:cxnSp>
      <p:sp>
        <p:nvSpPr>
          <p:cNvPr id="5" name="Ovaal 14">
            <a:extLst>
              <a:ext uri="{FF2B5EF4-FFF2-40B4-BE49-F238E27FC236}">
                <a16:creationId xmlns:a16="http://schemas.microsoft.com/office/drawing/2014/main" id="{5FEF8EDC-126A-026A-E992-C95040433070}"/>
              </a:ext>
            </a:extLst>
          </p:cNvPr>
          <p:cNvSpPr/>
          <p:nvPr/>
        </p:nvSpPr>
        <p:spPr>
          <a:xfrm>
            <a:off x="1729340" y="2336801"/>
            <a:ext cx="2063412" cy="2067115"/>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6" name="Ovaal 15">
            <a:extLst>
              <a:ext uri="{FF2B5EF4-FFF2-40B4-BE49-F238E27FC236}">
                <a16:creationId xmlns:a16="http://schemas.microsoft.com/office/drawing/2014/main" id="{55506ABB-9F01-E91C-C1B6-13495C00E973}"/>
              </a:ext>
            </a:extLst>
          </p:cNvPr>
          <p:cNvSpPr/>
          <p:nvPr/>
        </p:nvSpPr>
        <p:spPr>
          <a:xfrm>
            <a:off x="9314969" y="2395442"/>
            <a:ext cx="2063412" cy="2067115"/>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sp>
        <p:nvSpPr>
          <p:cNvPr id="7" name="Tekstvak 3">
            <a:extLst>
              <a:ext uri="{FF2B5EF4-FFF2-40B4-BE49-F238E27FC236}">
                <a16:creationId xmlns:a16="http://schemas.microsoft.com/office/drawing/2014/main" id="{50CDFD9C-23D4-C05A-6E39-5E6D23360CE1}"/>
              </a:ext>
            </a:extLst>
          </p:cNvPr>
          <p:cNvSpPr txBox="1"/>
          <p:nvPr/>
        </p:nvSpPr>
        <p:spPr>
          <a:xfrm>
            <a:off x="5163688" y="2724248"/>
            <a:ext cx="3839257" cy="523220"/>
          </a:xfrm>
          <a:prstGeom prst="rect">
            <a:avLst/>
          </a:prstGeom>
          <a:noFill/>
        </p:spPr>
        <p:txBody>
          <a:bodyPr wrap="square" rtlCol="0">
            <a:spAutoFit/>
          </a:bodyPr>
          <a:lstStyle/>
          <a:p>
            <a:r>
              <a:rPr lang="nl-BE" sz="2800" dirty="0">
                <a:latin typeface="Barlow Condensed Medium" panose="00000606000000000000" pitchFamily="2" charset="0"/>
              </a:rPr>
              <a:t>communicatiekanaal</a:t>
            </a:r>
          </a:p>
        </p:txBody>
      </p:sp>
      <p:sp>
        <p:nvSpPr>
          <p:cNvPr id="3" name="Rechthoek 22">
            <a:extLst>
              <a:ext uri="{FF2B5EF4-FFF2-40B4-BE49-F238E27FC236}">
                <a16:creationId xmlns:a16="http://schemas.microsoft.com/office/drawing/2014/main" id="{EBDF4168-D05C-05F2-1437-7D16095E3659}"/>
              </a:ext>
            </a:extLst>
          </p:cNvPr>
          <p:cNvSpPr/>
          <p:nvPr/>
        </p:nvSpPr>
        <p:spPr>
          <a:xfrm>
            <a:off x="3952472" y="3194350"/>
            <a:ext cx="899192"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nl-BE" sz="2000" dirty="0">
                <a:solidFill>
                  <a:schemeClr val="accent2"/>
                </a:solidFill>
                <a:latin typeface="Barlow Condensed Medium" panose="00000606000000000000" pitchFamily="2" charset="0"/>
              </a:rPr>
              <a:t>medium</a:t>
            </a:r>
          </a:p>
        </p:txBody>
      </p:sp>
      <p:sp>
        <p:nvSpPr>
          <p:cNvPr id="8" name="Rechthoek 22">
            <a:extLst>
              <a:ext uri="{FF2B5EF4-FFF2-40B4-BE49-F238E27FC236}">
                <a16:creationId xmlns:a16="http://schemas.microsoft.com/office/drawing/2014/main" id="{C8EF7CED-9946-F10F-09F4-33550BFCE17B}"/>
              </a:ext>
            </a:extLst>
          </p:cNvPr>
          <p:cNvSpPr/>
          <p:nvPr/>
        </p:nvSpPr>
        <p:spPr>
          <a:xfrm>
            <a:off x="8209756" y="3247468"/>
            <a:ext cx="899192"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nl-BE" sz="2000" dirty="0">
                <a:solidFill>
                  <a:schemeClr val="accent2"/>
                </a:solidFill>
                <a:latin typeface="Barlow Condensed Medium" panose="00000606000000000000" pitchFamily="2" charset="0"/>
              </a:rPr>
              <a:t>medium</a:t>
            </a:r>
          </a:p>
        </p:txBody>
      </p:sp>
      <p:sp>
        <p:nvSpPr>
          <p:cNvPr id="9" name="Tekstvak 3">
            <a:extLst>
              <a:ext uri="{FF2B5EF4-FFF2-40B4-BE49-F238E27FC236}">
                <a16:creationId xmlns:a16="http://schemas.microsoft.com/office/drawing/2014/main" id="{81C941B6-1D2D-F2AC-3F69-644D9F4F965B}"/>
              </a:ext>
            </a:extLst>
          </p:cNvPr>
          <p:cNvSpPr txBox="1"/>
          <p:nvPr/>
        </p:nvSpPr>
        <p:spPr>
          <a:xfrm>
            <a:off x="2256743" y="4376509"/>
            <a:ext cx="3839257" cy="523220"/>
          </a:xfrm>
          <a:prstGeom prst="rect">
            <a:avLst/>
          </a:prstGeom>
          <a:noFill/>
        </p:spPr>
        <p:txBody>
          <a:bodyPr wrap="square" rtlCol="0">
            <a:spAutoFit/>
          </a:bodyPr>
          <a:lstStyle/>
          <a:p>
            <a:r>
              <a:rPr lang="nl-BE" sz="2800" dirty="0">
                <a:latin typeface="Barlow Condensed Medium" panose="00000606000000000000" pitchFamily="2" charset="0"/>
              </a:rPr>
              <a:t>Zender</a:t>
            </a:r>
          </a:p>
        </p:txBody>
      </p:sp>
      <p:sp>
        <p:nvSpPr>
          <p:cNvPr id="10" name="Tekstvak 3">
            <a:extLst>
              <a:ext uri="{FF2B5EF4-FFF2-40B4-BE49-F238E27FC236}">
                <a16:creationId xmlns:a16="http://schemas.microsoft.com/office/drawing/2014/main" id="{CF54DD60-7622-5D21-73CF-3518023DE476}"/>
              </a:ext>
            </a:extLst>
          </p:cNvPr>
          <p:cNvSpPr txBox="1"/>
          <p:nvPr/>
        </p:nvSpPr>
        <p:spPr>
          <a:xfrm>
            <a:off x="9664773" y="4427335"/>
            <a:ext cx="3839257" cy="523220"/>
          </a:xfrm>
          <a:prstGeom prst="rect">
            <a:avLst/>
          </a:prstGeom>
          <a:noFill/>
        </p:spPr>
        <p:txBody>
          <a:bodyPr wrap="square" rtlCol="0">
            <a:spAutoFit/>
          </a:bodyPr>
          <a:lstStyle/>
          <a:p>
            <a:r>
              <a:rPr lang="nl-BE" sz="2800" dirty="0">
                <a:latin typeface="Barlow Condensed Medium" panose="00000606000000000000" pitchFamily="2" charset="0"/>
              </a:rPr>
              <a:t>Ontvanger</a:t>
            </a:r>
          </a:p>
        </p:txBody>
      </p:sp>
    </p:spTree>
    <p:extLst>
      <p:ext uri="{BB962C8B-B14F-4D97-AF65-F5344CB8AC3E}">
        <p14:creationId xmlns:p14="http://schemas.microsoft.com/office/powerpoint/2010/main" val="654010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3" grpId="0" animBg="1"/>
      <p:bldP spid="8" grpId="0" animBg="1"/>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F4818-8915-64F2-493F-41B37158D392}"/>
              </a:ext>
            </a:extLst>
          </p:cNvPr>
          <p:cNvSpPr>
            <a:spLocks noGrp="1"/>
          </p:cNvSpPr>
          <p:nvPr>
            <p:ph type="title"/>
          </p:nvPr>
        </p:nvSpPr>
        <p:spPr/>
        <p:txBody>
          <a:bodyPr/>
          <a:lstStyle/>
          <a:p>
            <a:r>
              <a:rPr lang="en-US" dirty="0"/>
              <a:t>Simplex</a:t>
            </a:r>
            <a:endParaRPr lang="LID4096" dirty="0"/>
          </a:p>
        </p:txBody>
      </p:sp>
      <p:sp>
        <p:nvSpPr>
          <p:cNvPr id="4" name="Ovaal 14">
            <a:extLst>
              <a:ext uri="{FF2B5EF4-FFF2-40B4-BE49-F238E27FC236}">
                <a16:creationId xmlns:a16="http://schemas.microsoft.com/office/drawing/2014/main" id="{63340126-F200-FBE9-2095-637B0961AE07}"/>
              </a:ext>
            </a:extLst>
          </p:cNvPr>
          <p:cNvSpPr/>
          <p:nvPr/>
        </p:nvSpPr>
        <p:spPr>
          <a:xfrm>
            <a:off x="2507956" y="2802261"/>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5" name="Ovaal 15">
            <a:extLst>
              <a:ext uri="{FF2B5EF4-FFF2-40B4-BE49-F238E27FC236}">
                <a16:creationId xmlns:a16="http://schemas.microsoft.com/office/drawing/2014/main" id="{CC3E4827-88A4-938E-F5CE-E35404309A0C}"/>
              </a:ext>
            </a:extLst>
          </p:cNvPr>
          <p:cNvSpPr/>
          <p:nvPr/>
        </p:nvSpPr>
        <p:spPr>
          <a:xfrm>
            <a:off x="7692533" y="2802260"/>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cxnSp>
        <p:nvCxnSpPr>
          <p:cNvPr id="6" name="Rechte verbindingslijn met pijl 16">
            <a:extLst>
              <a:ext uri="{FF2B5EF4-FFF2-40B4-BE49-F238E27FC236}">
                <a16:creationId xmlns:a16="http://schemas.microsoft.com/office/drawing/2014/main" id="{26608AE1-C8A7-C923-086C-57EDA3D8E8A1}"/>
              </a:ext>
            </a:extLst>
          </p:cNvPr>
          <p:cNvCxnSpPr/>
          <p:nvPr/>
        </p:nvCxnSpPr>
        <p:spPr>
          <a:xfrm>
            <a:off x="4121306" y="3581773"/>
            <a:ext cx="3456384" cy="0"/>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9699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80DEF-143D-1028-65A4-84EE6E73D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D4F21-E982-2590-DE9A-F8EF3726EFD4}"/>
              </a:ext>
            </a:extLst>
          </p:cNvPr>
          <p:cNvSpPr>
            <a:spLocks noGrp="1"/>
          </p:cNvSpPr>
          <p:nvPr>
            <p:ph type="title"/>
          </p:nvPr>
        </p:nvSpPr>
        <p:spPr/>
        <p:txBody>
          <a:bodyPr/>
          <a:lstStyle/>
          <a:p>
            <a:r>
              <a:rPr lang="en-US" dirty="0"/>
              <a:t>Simplex</a:t>
            </a:r>
            <a:endParaRPr lang="LID4096" dirty="0"/>
          </a:p>
        </p:txBody>
      </p:sp>
      <p:pic>
        <p:nvPicPr>
          <p:cNvPr id="3" name="Picture 2" descr="Elektrische apparaten lastiger te repareren' - Radar - het  consumentenprogramma van AVROTROS">
            <a:extLst>
              <a:ext uri="{FF2B5EF4-FFF2-40B4-BE49-F238E27FC236}">
                <a16:creationId xmlns:a16="http://schemas.microsoft.com/office/drawing/2014/main" id="{1AD7B3B9-106E-AD06-9AC2-1DDFCDC78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410" y="2354174"/>
            <a:ext cx="4821655" cy="27137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Luisteren in ongewone tijden - Wtnschp.be">
            <a:extLst>
              <a:ext uri="{FF2B5EF4-FFF2-40B4-BE49-F238E27FC236}">
                <a16:creationId xmlns:a16="http://schemas.microsoft.com/office/drawing/2014/main" id="{07440FE4-8C40-ECC8-6935-53BA5F08B3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8839"/>
          <a:stretch/>
        </p:blipFill>
        <p:spPr bwMode="auto">
          <a:xfrm>
            <a:off x="1149016" y="2354174"/>
            <a:ext cx="4946984" cy="2713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49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6FBEA-265C-B8A1-1713-0BFD120143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F94C2-7AFB-6824-F047-7DFC2282D38A}"/>
              </a:ext>
            </a:extLst>
          </p:cNvPr>
          <p:cNvSpPr>
            <a:spLocks noGrp="1"/>
          </p:cNvSpPr>
          <p:nvPr>
            <p:ph type="title"/>
          </p:nvPr>
        </p:nvSpPr>
        <p:spPr/>
        <p:txBody>
          <a:bodyPr/>
          <a:lstStyle/>
          <a:p>
            <a:r>
              <a:rPr lang="en-US" dirty="0"/>
              <a:t>Half-duplex</a:t>
            </a:r>
            <a:endParaRPr lang="LID4096" dirty="0"/>
          </a:p>
        </p:txBody>
      </p:sp>
      <p:sp>
        <p:nvSpPr>
          <p:cNvPr id="4" name="Ovaal 14">
            <a:extLst>
              <a:ext uri="{FF2B5EF4-FFF2-40B4-BE49-F238E27FC236}">
                <a16:creationId xmlns:a16="http://schemas.microsoft.com/office/drawing/2014/main" id="{FE8923B2-732A-638A-D26D-3A9820207106}"/>
              </a:ext>
            </a:extLst>
          </p:cNvPr>
          <p:cNvSpPr/>
          <p:nvPr/>
        </p:nvSpPr>
        <p:spPr>
          <a:xfrm>
            <a:off x="2507956" y="2802261"/>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5" name="Ovaal 15">
            <a:extLst>
              <a:ext uri="{FF2B5EF4-FFF2-40B4-BE49-F238E27FC236}">
                <a16:creationId xmlns:a16="http://schemas.microsoft.com/office/drawing/2014/main" id="{7B723627-F81A-4BEA-91C6-0BC91CF83938}"/>
              </a:ext>
            </a:extLst>
          </p:cNvPr>
          <p:cNvSpPr/>
          <p:nvPr/>
        </p:nvSpPr>
        <p:spPr>
          <a:xfrm>
            <a:off x="7692533" y="2802260"/>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cxnSp>
        <p:nvCxnSpPr>
          <p:cNvPr id="3" name="Rechte verbindingslijn met pijl 16">
            <a:extLst>
              <a:ext uri="{FF2B5EF4-FFF2-40B4-BE49-F238E27FC236}">
                <a16:creationId xmlns:a16="http://schemas.microsoft.com/office/drawing/2014/main" id="{B3E27440-94CC-79AC-ED29-81A706DD6A01}"/>
              </a:ext>
            </a:extLst>
          </p:cNvPr>
          <p:cNvCxnSpPr/>
          <p:nvPr/>
        </p:nvCxnSpPr>
        <p:spPr>
          <a:xfrm>
            <a:off x="6052471" y="3561080"/>
            <a:ext cx="1515645" cy="908"/>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cxnSp>
        <p:nvCxnSpPr>
          <p:cNvPr id="7" name="Rechte verbindingslijn met pijl 18">
            <a:extLst>
              <a:ext uri="{FF2B5EF4-FFF2-40B4-BE49-F238E27FC236}">
                <a16:creationId xmlns:a16="http://schemas.microsoft.com/office/drawing/2014/main" id="{826DEE8B-2AAC-D593-D286-4C164DEEF7CC}"/>
              </a:ext>
            </a:extLst>
          </p:cNvPr>
          <p:cNvCxnSpPr/>
          <p:nvPr/>
        </p:nvCxnSpPr>
        <p:spPr>
          <a:xfrm flipH="1">
            <a:off x="4144538" y="3561080"/>
            <a:ext cx="1515645" cy="908"/>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sp>
        <p:nvSpPr>
          <p:cNvPr id="9" name="TextBox 8">
            <a:extLst>
              <a:ext uri="{FF2B5EF4-FFF2-40B4-BE49-F238E27FC236}">
                <a16:creationId xmlns:a16="http://schemas.microsoft.com/office/drawing/2014/main" id="{131E1952-C778-A7B9-D1E0-B12CE4BF04FD}"/>
              </a:ext>
            </a:extLst>
          </p:cNvPr>
          <p:cNvSpPr txBox="1"/>
          <p:nvPr/>
        </p:nvSpPr>
        <p:spPr>
          <a:xfrm>
            <a:off x="4902360" y="3791207"/>
            <a:ext cx="3423578" cy="523220"/>
          </a:xfrm>
          <a:prstGeom prst="rect">
            <a:avLst/>
          </a:prstGeom>
          <a:noFill/>
        </p:spPr>
        <p:txBody>
          <a:bodyPr wrap="square" rtlCol="0">
            <a:spAutoFit/>
          </a:bodyPr>
          <a:lstStyle/>
          <a:p>
            <a:r>
              <a:rPr lang="en-US" sz="2800" dirty="0" err="1"/>
              <a:t>Niet</a:t>
            </a:r>
            <a:r>
              <a:rPr lang="en-US" sz="2800" dirty="0"/>
              <a:t> </a:t>
            </a:r>
            <a:r>
              <a:rPr lang="en-US" sz="2800" dirty="0" err="1"/>
              <a:t>tegelijk</a:t>
            </a:r>
            <a:endParaRPr lang="LID4096" dirty="0"/>
          </a:p>
        </p:txBody>
      </p:sp>
    </p:spTree>
    <p:extLst>
      <p:ext uri="{BB962C8B-B14F-4D97-AF65-F5344CB8AC3E}">
        <p14:creationId xmlns:p14="http://schemas.microsoft.com/office/powerpoint/2010/main" val="284784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AA7A-C1D4-02AE-3D19-33C4CB231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2D1CB-6A62-2027-0CEB-A211996ED7D0}"/>
              </a:ext>
            </a:extLst>
          </p:cNvPr>
          <p:cNvSpPr>
            <a:spLocks noGrp="1"/>
          </p:cNvSpPr>
          <p:nvPr>
            <p:ph type="title"/>
          </p:nvPr>
        </p:nvSpPr>
        <p:spPr/>
        <p:txBody>
          <a:bodyPr/>
          <a:lstStyle/>
          <a:p>
            <a:r>
              <a:rPr lang="en-US" dirty="0"/>
              <a:t>Half-duplex</a:t>
            </a:r>
            <a:endParaRPr lang="LID4096" dirty="0"/>
          </a:p>
        </p:txBody>
      </p:sp>
      <p:pic>
        <p:nvPicPr>
          <p:cNvPr id="6" name="Picture 2" descr="De Walkie Talkie-tent: een glampingtent voor kinderen">
            <a:extLst>
              <a:ext uri="{FF2B5EF4-FFF2-40B4-BE49-F238E27FC236}">
                <a16:creationId xmlns:a16="http://schemas.microsoft.com/office/drawing/2014/main" id="{9E955288-0E51-DF61-EFD2-C6A66A7C02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430" b="25665"/>
          <a:stretch/>
        </p:blipFill>
        <p:spPr bwMode="auto">
          <a:xfrm>
            <a:off x="1226819" y="2249123"/>
            <a:ext cx="9925051" cy="2808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32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E622B-20EE-8E5C-4B92-223EA280D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8703C-DACC-D114-2FCE-F2A7412FCA62}"/>
              </a:ext>
            </a:extLst>
          </p:cNvPr>
          <p:cNvSpPr>
            <a:spLocks noGrp="1"/>
          </p:cNvSpPr>
          <p:nvPr>
            <p:ph type="title"/>
          </p:nvPr>
        </p:nvSpPr>
        <p:spPr/>
        <p:txBody>
          <a:bodyPr/>
          <a:lstStyle/>
          <a:p>
            <a:r>
              <a:rPr lang="en-US" dirty="0"/>
              <a:t>Duplex</a:t>
            </a:r>
            <a:endParaRPr lang="LID4096" dirty="0"/>
          </a:p>
        </p:txBody>
      </p:sp>
      <p:sp>
        <p:nvSpPr>
          <p:cNvPr id="4" name="Ovaal 14">
            <a:extLst>
              <a:ext uri="{FF2B5EF4-FFF2-40B4-BE49-F238E27FC236}">
                <a16:creationId xmlns:a16="http://schemas.microsoft.com/office/drawing/2014/main" id="{4C850D12-6DDF-4D52-7EEC-DAF43EEDC4AA}"/>
              </a:ext>
            </a:extLst>
          </p:cNvPr>
          <p:cNvSpPr/>
          <p:nvPr/>
        </p:nvSpPr>
        <p:spPr>
          <a:xfrm>
            <a:off x="2507956" y="2802261"/>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5" name="Ovaal 15">
            <a:extLst>
              <a:ext uri="{FF2B5EF4-FFF2-40B4-BE49-F238E27FC236}">
                <a16:creationId xmlns:a16="http://schemas.microsoft.com/office/drawing/2014/main" id="{A7F1ADDB-A184-CE14-6665-55267310F3BE}"/>
              </a:ext>
            </a:extLst>
          </p:cNvPr>
          <p:cNvSpPr/>
          <p:nvPr/>
        </p:nvSpPr>
        <p:spPr>
          <a:xfrm>
            <a:off x="7692533" y="2802260"/>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sp>
        <p:nvSpPr>
          <p:cNvPr id="8" name="TextBox 7">
            <a:extLst>
              <a:ext uri="{FF2B5EF4-FFF2-40B4-BE49-F238E27FC236}">
                <a16:creationId xmlns:a16="http://schemas.microsoft.com/office/drawing/2014/main" id="{A2DA1F79-CDC2-3458-B8A1-D214DC4A0801}"/>
              </a:ext>
            </a:extLst>
          </p:cNvPr>
          <p:cNvSpPr txBox="1"/>
          <p:nvPr/>
        </p:nvSpPr>
        <p:spPr>
          <a:xfrm>
            <a:off x="5250904" y="3894295"/>
            <a:ext cx="3423578" cy="523220"/>
          </a:xfrm>
          <a:prstGeom prst="rect">
            <a:avLst/>
          </a:prstGeom>
          <a:noFill/>
        </p:spPr>
        <p:txBody>
          <a:bodyPr wrap="square" rtlCol="0">
            <a:spAutoFit/>
          </a:bodyPr>
          <a:lstStyle/>
          <a:p>
            <a:r>
              <a:rPr lang="en-US" sz="2800" dirty="0" err="1"/>
              <a:t>Tegelijk</a:t>
            </a:r>
            <a:endParaRPr lang="LID4096" dirty="0"/>
          </a:p>
        </p:txBody>
      </p:sp>
      <p:cxnSp>
        <p:nvCxnSpPr>
          <p:cNvPr id="6" name="Rechte verbindingslijn met pijl 16">
            <a:extLst>
              <a:ext uri="{FF2B5EF4-FFF2-40B4-BE49-F238E27FC236}">
                <a16:creationId xmlns:a16="http://schemas.microsoft.com/office/drawing/2014/main" id="{8B64BA23-6B34-8892-55E5-CE4AE76C470C}"/>
              </a:ext>
            </a:extLst>
          </p:cNvPr>
          <p:cNvCxnSpPr/>
          <p:nvPr/>
        </p:nvCxnSpPr>
        <p:spPr>
          <a:xfrm>
            <a:off x="4154111" y="3328824"/>
            <a:ext cx="3423578" cy="908"/>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cxnSp>
        <p:nvCxnSpPr>
          <p:cNvPr id="9" name="Rechte verbindingslijn met pijl 18">
            <a:extLst>
              <a:ext uri="{FF2B5EF4-FFF2-40B4-BE49-F238E27FC236}">
                <a16:creationId xmlns:a16="http://schemas.microsoft.com/office/drawing/2014/main" id="{AA2E7AE9-6C99-4F5E-7508-89A5BF816CFC}"/>
              </a:ext>
            </a:extLst>
          </p:cNvPr>
          <p:cNvCxnSpPr/>
          <p:nvPr/>
        </p:nvCxnSpPr>
        <p:spPr>
          <a:xfrm flipH="1" flipV="1">
            <a:off x="4134966" y="3704657"/>
            <a:ext cx="3442723" cy="24063"/>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82594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E193E-0521-ACD6-EC3B-FE70EE1C9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525ED-359A-060A-3DE4-3AC39E3044F1}"/>
              </a:ext>
            </a:extLst>
          </p:cNvPr>
          <p:cNvSpPr>
            <a:spLocks noGrp="1"/>
          </p:cNvSpPr>
          <p:nvPr>
            <p:ph type="title"/>
          </p:nvPr>
        </p:nvSpPr>
        <p:spPr/>
        <p:txBody>
          <a:bodyPr/>
          <a:lstStyle/>
          <a:p>
            <a:r>
              <a:rPr lang="en-US" dirty="0"/>
              <a:t>Duplex</a:t>
            </a:r>
            <a:endParaRPr lang="LID4096" dirty="0"/>
          </a:p>
        </p:txBody>
      </p:sp>
      <p:pic>
        <p:nvPicPr>
          <p:cNvPr id="3" name="Picture 2" descr="De 5 spelregels van... gezellig even bellen | RTL Nieuws">
            <a:extLst>
              <a:ext uri="{FF2B5EF4-FFF2-40B4-BE49-F238E27FC236}">
                <a16:creationId xmlns:a16="http://schemas.microsoft.com/office/drawing/2014/main" id="{7E8CC351-C565-D985-5B74-9B4E021248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67" b="32408"/>
          <a:stretch/>
        </p:blipFill>
        <p:spPr bwMode="auto">
          <a:xfrm>
            <a:off x="1236980" y="2279667"/>
            <a:ext cx="9925050" cy="2952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26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Afbeelding 23">
            <a:extLst>
              <a:ext uri="{FF2B5EF4-FFF2-40B4-BE49-F238E27FC236}">
                <a16:creationId xmlns:a16="http://schemas.microsoft.com/office/drawing/2014/main" id="{777D8263-5A16-3576-4A37-CD8B8B65F3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20" name="TextBox 19">
            <a:extLst>
              <a:ext uri="{FF2B5EF4-FFF2-40B4-BE49-F238E27FC236}">
                <a16:creationId xmlns:a16="http://schemas.microsoft.com/office/drawing/2014/main" id="{A84F4A11-E541-9390-B773-A9B04BAD19A9}"/>
              </a:ext>
            </a:extLst>
          </p:cNvPr>
          <p:cNvSpPr txBox="1"/>
          <p:nvPr/>
        </p:nvSpPr>
        <p:spPr>
          <a:xfrm>
            <a:off x="5379896" y="2118319"/>
            <a:ext cx="3501292" cy="584775"/>
          </a:xfrm>
          <a:prstGeom prst="rect">
            <a:avLst/>
          </a:prstGeom>
          <a:noFill/>
        </p:spPr>
        <p:txBody>
          <a:bodyPr wrap="square" rtlCol="0">
            <a:spAutoFit/>
          </a:bodyPr>
          <a:lstStyle/>
          <a:p>
            <a:r>
              <a:rPr lang="en-US" sz="3200" dirty="0"/>
              <a:t>Switch</a:t>
            </a:r>
            <a:endParaRPr lang="LID4096" sz="3200" dirty="0"/>
          </a:p>
        </p:txBody>
      </p:sp>
    </p:spTree>
    <p:extLst>
      <p:ext uri="{BB962C8B-B14F-4D97-AF65-F5344CB8AC3E}">
        <p14:creationId xmlns:p14="http://schemas.microsoft.com/office/powerpoint/2010/main" val="426024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F85A9-BFD9-A725-4A35-8966524F40A9}"/>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8921DE9B-9F54-D8FB-F436-C9858619377F}"/>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02B8194C-EC54-8CA3-767B-ACC1EC26C6C3}"/>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EF740EE4-5575-2137-FEF7-A23CF0B5F1E7}"/>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A7CEA09B-258C-5EFF-E57D-2598E0209049}"/>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01B6648E-B53D-E296-E5D7-FB6E0C0F8ED8}"/>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B6CEB0F6-5306-1C66-D231-78710D1AAF82}"/>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8D39BE6F-487D-CD46-EC16-F61F6A6555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Tree>
    <p:extLst>
      <p:ext uri="{BB962C8B-B14F-4D97-AF65-F5344CB8AC3E}">
        <p14:creationId xmlns:p14="http://schemas.microsoft.com/office/powerpoint/2010/main" val="352363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6CE45-278B-8165-C462-079483172C41}"/>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741EDD29-3C60-AD8A-A9F1-47A43A1D40E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AAD472ED-829D-C1D7-6D9C-44900C05C90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68FBBFD1-97EE-E8F7-B5CF-CF9BCCBB4FD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CDF8CBA3-D420-0254-323B-D453C13FDF3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2AD994BA-2542-ED90-C1AA-6925EAD80F6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D209DA2D-DD93-5078-B7F9-1CC76A18AAD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755186D1-C9D6-2782-740D-EADEFBEEE7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ADEAD76A-C41C-0A1F-2273-9F0FCE573F4E}"/>
              </a:ext>
            </a:extLst>
          </p:cNvPr>
          <p:cNvSpPr>
            <a:spLocks noGrp="1"/>
          </p:cNvSpPr>
          <p:nvPr>
            <p:ph type="title"/>
          </p:nvPr>
        </p:nvSpPr>
        <p:spPr>
          <a:xfrm>
            <a:off x="838200" y="365125"/>
            <a:ext cx="10515600" cy="1325563"/>
          </a:xfrm>
        </p:spPr>
        <p:txBody>
          <a:bodyPr/>
          <a:lstStyle/>
          <a:p>
            <a:r>
              <a:rPr lang="en-US" dirty="0"/>
              <a:t>Casting</a:t>
            </a:r>
            <a:endParaRPr lang="LID4096" dirty="0"/>
          </a:p>
        </p:txBody>
      </p:sp>
    </p:spTree>
    <p:extLst>
      <p:ext uri="{BB962C8B-B14F-4D97-AF65-F5344CB8AC3E}">
        <p14:creationId xmlns:p14="http://schemas.microsoft.com/office/powerpoint/2010/main" val="83373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D6FDE-366C-27EF-C056-8603305855F2}"/>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2BD8DBDA-4FE9-A6E0-3B4A-80AB678E40D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479373B6-471E-EBD3-A74A-CB7A0B606DD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59A61430-9EAB-0D2E-4C5B-10D54529362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99E84823-8CE8-8A5F-6AC0-38F025A737A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64FB0E90-BFB9-510F-8DEB-AE23E68BA5A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7840A2E0-A03D-8668-FECC-E81204746B2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9901CBB9-20E9-021A-8325-EDA9AB4A88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2CE9DE2A-3990-B81C-E431-5AD18F15F9D0}"/>
              </a:ext>
            </a:extLst>
          </p:cNvPr>
          <p:cNvSpPr>
            <a:spLocks noGrp="1"/>
          </p:cNvSpPr>
          <p:nvPr>
            <p:ph type="title"/>
          </p:nvPr>
        </p:nvSpPr>
        <p:spPr>
          <a:xfrm>
            <a:off x="838200" y="365125"/>
            <a:ext cx="10515600" cy="1325563"/>
          </a:xfrm>
        </p:spPr>
        <p:txBody>
          <a:bodyPr/>
          <a:lstStyle/>
          <a:p>
            <a:r>
              <a:rPr lang="en-US" dirty="0"/>
              <a:t>Unicast</a:t>
            </a:r>
            <a:endParaRPr lang="LID4096" dirty="0"/>
          </a:p>
        </p:txBody>
      </p:sp>
      <p:cxnSp>
        <p:nvCxnSpPr>
          <p:cNvPr id="9" name="Rechte verbindingslijn met pijl 24">
            <a:extLst>
              <a:ext uri="{FF2B5EF4-FFF2-40B4-BE49-F238E27FC236}">
                <a16:creationId xmlns:a16="http://schemas.microsoft.com/office/drawing/2014/main" id="{3ECA955F-E4E1-23E4-55B6-C6C758EC6C17}"/>
              </a:ext>
            </a:extLst>
          </p:cNvPr>
          <p:cNvCxnSpPr/>
          <p:nvPr/>
        </p:nvCxnSpPr>
        <p:spPr>
          <a:xfrm>
            <a:off x="3775127" y="3429000"/>
            <a:ext cx="1512168" cy="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Rechte verbindingslijn met pijl 25">
            <a:extLst>
              <a:ext uri="{FF2B5EF4-FFF2-40B4-BE49-F238E27FC236}">
                <a16:creationId xmlns:a16="http://schemas.microsoft.com/office/drawing/2014/main" id="{36E83BBE-50FE-EC59-EEC9-68DA829A4547}"/>
              </a:ext>
            </a:extLst>
          </p:cNvPr>
          <p:cNvCxnSpPr/>
          <p:nvPr/>
        </p:nvCxnSpPr>
        <p:spPr>
          <a:xfrm flipV="1">
            <a:off x="6217103" y="2208102"/>
            <a:ext cx="677448" cy="76796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25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77B9B-A90D-1932-F361-6471617DFEC4}"/>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5FFBAD1A-D717-854A-5E82-3A361F14D01F}"/>
              </a:ext>
            </a:extLst>
          </p:cNvPr>
          <p:cNvSpPr>
            <a:spLocks noGrp="1"/>
          </p:cNvSpPr>
          <p:nvPr>
            <p:ph type="title"/>
          </p:nvPr>
        </p:nvSpPr>
        <p:spPr>
          <a:xfrm>
            <a:off x="838200" y="365125"/>
            <a:ext cx="10515600" cy="1325563"/>
          </a:xfrm>
        </p:spPr>
        <p:txBody>
          <a:bodyPr/>
          <a:lstStyle/>
          <a:p>
            <a:r>
              <a:rPr lang="en-US"/>
              <a:t>Unicast</a:t>
            </a:r>
            <a:endParaRPr lang="LID4096" dirty="0"/>
          </a:p>
        </p:txBody>
      </p:sp>
      <p:pic>
        <p:nvPicPr>
          <p:cNvPr id="1026" name="Picture 2" descr="File transfer - Free computer icons">
            <a:extLst>
              <a:ext uri="{FF2B5EF4-FFF2-40B4-BE49-F238E27FC236}">
                <a16:creationId xmlns:a16="http://schemas.microsoft.com/office/drawing/2014/main" id="{7F8B6DBA-40D1-43E3-BAF9-A1E07B8171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507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1B2B-51F3-7BBD-C905-65E12E61F8E4}"/>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DDE9EFE2-578B-15AB-102B-871967D17A3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C4D76893-930E-A4AD-C6B0-FC0351487BC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D798FC1C-EE64-3652-0284-5FF5EEB8DE4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84ED5698-6A88-AED3-CC44-A86A9CAF614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8B4FAF1C-8BB6-C03E-C7E7-10ED429E4B4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126EE33A-A5FB-45C2-0774-EE566E658AA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213295B8-89BF-D092-24CF-9717B051AB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67FA9969-3C19-0520-80CE-1669BBE692F5}"/>
              </a:ext>
            </a:extLst>
          </p:cNvPr>
          <p:cNvSpPr>
            <a:spLocks noGrp="1"/>
          </p:cNvSpPr>
          <p:nvPr>
            <p:ph type="title"/>
          </p:nvPr>
        </p:nvSpPr>
        <p:spPr>
          <a:xfrm>
            <a:off x="838200" y="365125"/>
            <a:ext cx="10515600" cy="1325563"/>
          </a:xfrm>
        </p:spPr>
        <p:txBody>
          <a:bodyPr/>
          <a:lstStyle/>
          <a:p>
            <a:r>
              <a:rPr lang="en-US" dirty="0"/>
              <a:t>Multicast</a:t>
            </a:r>
            <a:endParaRPr lang="LID4096" dirty="0"/>
          </a:p>
        </p:txBody>
      </p:sp>
      <p:cxnSp>
        <p:nvCxnSpPr>
          <p:cNvPr id="9" name="Rechte verbindingslijn met pijl 24">
            <a:extLst>
              <a:ext uri="{FF2B5EF4-FFF2-40B4-BE49-F238E27FC236}">
                <a16:creationId xmlns:a16="http://schemas.microsoft.com/office/drawing/2014/main" id="{DB410C81-D47E-0811-EC31-AC66D220EA4D}"/>
              </a:ext>
            </a:extLst>
          </p:cNvPr>
          <p:cNvCxnSpPr/>
          <p:nvPr/>
        </p:nvCxnSpPr>
        <p:spPr>
          <a:xfrm>
            <a:off x="3775127" y="3429000"/>
            <a:ext cx="1512168" cy="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Rechte verbindingslijn met pijl 25">
            <a:extLst>
              <a:ext uri="{FF2B5EF4-FFF2-40B4-BE49-F238E27FC236}">
                <a16:creationId xmlns:a16="http://schemas.microsoft.com/office/drawing/2014/main" id="{818D016C-0458-F171-371A-51B2EDF2A57C}"/>
              </a:ext>
            </a:extLst>
          </p:cNvPr>
          <p:cNvCxnSpPr/>
          <p:nvPr/>
        </p:nvCxnSpPr>
        <p:spPr>
          <a:xfrm flipV="1">
            <a:off x="6325335" y="2183952"/>
            <a:ext cx="677448" cy="76796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Rechte verbindingslijn met pijl 16">
            <a:extLst>
              <a:ext uri="{FF2B5EF4-FFF2-40B4-BE49-F238E27FC236}">
                <a16:creationId xmlns:a16="http://schemas.microsoft.com/office/drawing/2014/main" id="{0037A520-61BD-3D85-ECCB-45A474F7E1BB}"/>
              </a:ext>
            </a:extLst>
          </p:cNvPr>
          <p:cNvCxnSpPr/>
          <p:nvPr/>
        </p:nvCxnSpPr>
        <p:spPr>
          <a:xfrm>
            <a:off x="6825301" y="3359941"/>
            <a:ext cx="1349804" cy="5284"/>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Rechte verbindingslijn met pijl 18">
            <a:extLst>
              <a:ext uri="{FF2B5EF4-FFF2-40B4-BE49-F238E27FC236}">
                <a16:creationId xmlns:a16="http://schemas.microsoft.com/office/drawing/2014/main" id="{4A62FBEF-E155-4629-ADBA-C3A66D271988}"/>
              </a:ext>
            </a:extLst>
          </p:cNvPr>
          <p:cNvCxnSpPr/>
          <p:nvPr/>
        </p:nvCxnSpPr>
        <p:spPr>
          <a:xfrm>
            <a:off x="6429571" y="3697828"/>
            <a:ext cx="647022" cy="745915"/>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5508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5BC35-0A95-68BC-F31E-85707D90C5BA}"/>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B8D5A7B5-ADFE-E658-9F8E-00745FC68ACC}"/>
              </a:ext>
            </a:extLst>
          </p:cNvPr>
          <p:cNvSpPr>
            <a:spLocks noGrp="1"/>
          </p:cNvSpPr>
          <p:nvPr>
            <p:ph type="title"/>
          </p:nvPr>
        </p:nvSpPr>
        <p:spPr>
          <a:xfrm>
            <a:off x="838200" y="365125"/>
            <a:ext cx="10515600" cy="1325563"/>
          </a:xfrm>
        </p:spPr>
        <p:txBody>
          <a:bodyPr/>
          <a:lstStyle/>
          <a:p>
            <a:r>
              <a:rPr lang="en-US" dirty="0"/>
              <a:t>Multicast</a:t>
            </a:r>
            <a:endParaRPr lang="LID4096" dirty="0"/>
          </a:p>
        </p:txBody>
      </p:sp>
      <p:pic>
        <p:nvPicPr>
          <p:cNvPr id="2050" name="Picture 2" descr="Live stream - Free marketing icons">
            <a:extLst>
              <a:ext uri="{FF2B5EF4-FFF2-40B4-BE49-F238E27FC236}">
                <a16:creationId xmlns:a16="http://schemas.microsoft.com/office/drawing/2014/main" id="{B205628A-C498-38F5-3166-062FDD6040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89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F8F4B-649C-F78D-F309-7A96F370CBFB}"/>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8825C6B4-5D75-BE29-275A-66FE991C075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C6265B9E-0BB8-C4C1-3C57-978ACDBD66C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E62225B6-5A46-2601-DA99-22D55AEE423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DF92E7ED-234C-DE1A-9B37-98A3EE0B108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D6733C13-FA81-09D3-EA8F-494AD49FD65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DFB9A470-3653-E42D-8ED5-DC96E86EBA3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3234DB56-0C8B-2EE5-BD5E-B2BD4EA57C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FBE2B517-3160-8D4D-F3C1-61784A024B53}"/>
              </a:ext>
            </a:extLst>
          </p:cNvPr>
          <p:cNvSpPr>
            <a:spLocks noGrp="1"/>
          </p:cNvSpPr>
          <p:nvPr>
            <p:ph type="title"/>
          </p:nvPr>
        </p:nvSpPr>
        <p:spPr>
          <a:xfrm>
            <a:off x="838200" y="365125"/>
            <a:ext cx="10515600" cy="1325563"/>
          </a:xfrm>
        </p:spPr>
        <p:txBody>
          <a:bodyPr/>
          <a:lstStyle/>
          <a:p>
            <a:r>
              <a:rPr lang="en-US" dirty="0"/>
              <a:t>Broadcast</a:t>
            </a:r>
            <a:endParaRPr lang="LID4096" dirty="0"/>
          </a:p>
        </p:txBody>
      </p:sp>
      <p:cxnSp>
        <p:nvCxnSpPr>
          <p:cNvPr id="9" name="Rechte verbindingslijn met pijl 24">
            <a:extLst>
              <a:ext uri="{FF2B5EF4-FFF2-40B4-BE49-F238E27FC236}">
                <a16:creationId xmlns:a16="http://schemas.microsoft.com/office/drawing/2014/main" id="{9D35FDCA-4352-85FE-5AC0-655650BDCF3A}"/>
              </a:ext>
            </a:extLst>
          </p:cNvPr>
          <p:cNvCxnSpPr/>
          <p:nvPr/>
        </p:nvCxnSpPr>
        <p:spPr>
          <a:xfrm>
            <a:off x="3775127" y="3429000"/>
            <a:ext cx="1512168" cy="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Rechte verbindingslijn met pijl 25">
            <a:extLst>
              <a:ext uri="{FF2B5EF4-FFF2-40B4-BE49-F238E27FC236}">
                <a16:creationId xmlns:a16="http://schemas.microsoft.com/office/drawing/2014/main" id="{FBB0BD28-FB50-9637-C4A7-C5F0A47D05BB}"/>
              </a:ext>
            </a:extLst>
          </p:cNvPr>
          <p:cNvCxnSpPr/>
          <p:nvPr/>
        </p:nvCxnSpPr>
        <p:spPr>
          <a:xfrm flipV="1">
            <a:off x="6325335" y="2183952"/>
            <a:ext cx="677448" cy="76796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Rechte verbindingslijn met pijl 16">
            <a:extLst>
              <a:ext uri="{FF2B5EF4-FFF2-40B4-BE49-F238E27FC236}">
                <a16:creationId xmlns:a16="http://schemas.microsoft.com/office/drawing/2014/main" id="{76DEEEA4-C229-F730-808D-044BD6C9078F}"/>
              </a:ext>
            </a:extLst>
          </p:cNvPr>
          <p:cNvCxnSpPr/>
          <p:nvPr/>
        </p:nvCxnSpPr>
        <p:spPr>
          <a:xfrm>
            <a:off x="6825301" y="3359941"/>
            <a:ext cx="1349804" cy="5284"/>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Rechte verbindingslijn met pijl 18">
            <a:extLst>
              <a:ext uri="{FF2B5EF4-FFF2-40B4-BE49-F238E27FC236}">
                <a16:creationId xmlns:a16="http://schemas.microsoft.com/office/drawing/2014/main" id="{FD1FA1E3-BC96-8020-C59B-2DBDD3CDEC85}"/>
              </a:ext>
            </a:extLst>
          </p:cNvPr>
          <p:cNvCxnSpPr/>
          <p:nvPr/>
        </p:nvCxnSpPr>
        <p:spPr>
          <a:xfrm>
            <a:off x="6429571" y="3697828"/>
            <a:ext cx="647022" cy="745915"/>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Rechte verbindingslijn met pijl 26">
            <a:extLst>
              <a:ext uri="{FF2B5EF4-FFF2-40B4-BE49-F238E27FC236}">
                <a16:creationId xmlns:a16="http://schemas.microsoft.com/office/drawing/2014/main" id="{B0228A13-D192-8A67-0BC6-35D4A289BCCE}"/>
              </a:ext>
            </a:extLst>
          </p:cNvPr>
          <p:cNvCxnSpPr/>
          <p:nvPr/>
        </p:nvCxnSpPr>
        <p:spPr>
          <a:xfrm flipH="1" flipV="1">
            <a:off x="4915750" y="2302652"/>
            <a:ext cx="527144" cy="661821"/>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27">
            <a:extLst>
              <a:ext uri="{FF2B5EF4-FFF2-40B4-BE49-F238E27FC236}">
                <a16:creationId xmlns:a16="http://schemas.microsoft.com/office/drawing/2014/main" id="{8C0C8BCA-1789-642A-7359-C7B1AC78CCE7}"/>
              </a:ext>
            </a:extLst>
          </p:cNvPr>
          <p:cNvCxnSpPr/>
          <p:nvPr/>
        </p:nvCxnSpPr>
        <p:spPr>
          <a:xfrm flipH="1">
            <a:off x="4951467" y="3791532"/>
            <a:ext cx="528731" cy="652211"/>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555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A930-0087-1D16-D0DE-C02ADF4F8341}"/>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F3AFC8E-55CF-F39E-9B56-8FEB2F35198B}"/>
              </a:ext>
            </a:extLst>
          </p:cNvPr>
          <p:cNvSpPr>
            <a:spLocks noGrp="1"/>
          </p:cNvSpPr>
          <p:nvPr>
            <p:ph type="title"/>
          </p:nvPr>
        </p:nvSpPr>
        <p:spPr>
          <a:xfrm>
            <a:off x="838200" y="365125"/>
            <a:ext cx="10515600" cy="1325563"/>
          </a:xfrm>
        </p:spPr>
        <p:txBody>
          <a:bodyPr/>
          <a:lstStyle/>
          <a:p>
            <a:r>
              <a:rPr lang="en-US" dirty="0"/>
              <a:t>Broadcast</a:t>
            </a:r>
            <a:endParaRPr lang="LID4096" dirty="0"/>
          </a:p>
        </p:txBody>
      </p:sp>
      <p:pic>
        <p:nvPicPr>
          <p:cNvPr id="3074" name="Picture 2" descr="News - Free communications icons">
            <a:extLst>
              <a:ext uri="{FF2B5EF4-FFF2-40B4-BE49-F238E27FC236}">
                <a16:creationId xmlns:a16="http://schemas.microsoft.com/office/drawing/2014/main" id="{CDCCA626-469C-8851-6D53-72F3C30A8D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518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4D9F-869D-37A7-F796-1BE74A98FB21}"/>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4B5B84A4-8F3B-5A18-9382-22EA2C55989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E7B665A1-72AB-4C6E-914A-2B3FE446E68D}"/>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A8D7DAFF-8B1A-DD67-A065-08AD2FFFB17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1A02D54E-AD89-16F4-4318-CC43FB2F87F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7C90E1DB-C42B-E054-EB70-FADDE0571B9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E1D348C1-1196-C294-616D-36FB75A3FF7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7DEC623A-2BB3-0BA7-A637-CB176FCE2E3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20793CC9-408D-6784-A729-E53BEA552734}"/>
              </a:ext>
            </a:extLst>
          </p:cNvPr>
          <p:cNvSpPr>
            <a:spLocks noGrp="1"/>
          </p:cNvSpPr>
          <p:nvPr>
            <p:ph type="title"/>
          </p:nvPr>
        </p:nvSpPr>
        <p:spPr>
          <a:xfrm>
            <a:off x="838200" y="365125"/>
            <a:ext cx="10515600" cy="1325563"/>
          </a:xfrm>
        </p:spPr>
        <p:txBody>
          <a:bodyPr/>
          <a:lstStyle/>
          <a:p>
            <a:r>
              <a:rPr lang="en-US" dirty="0"/>
              <a:t>Anycast</a:t>
            </a:r>
            <a:endParaRPr lang="LID4096" dirty="0"/>
          </a:p>
        </p:txBody>
      </p:sp>
      <p:cxnSp>
        <p:nvCxnSpPr>
          <p:cNvPr id="9" name="Rechte verbindingslijn met pijl 24">
            <a:extLst>
              <a:ext uri="{FF2B5EF4-FFF2-40B4-BE49-F238E27FC236}">
                <a16:creationId xmlns:a16="http://schemas.microsoft.com/office/drawing/2014/main" id="{7B0098A2-3205-0331-A535-E56BA04632F9}"/>
              </a:ext>
            </a:extLst>
          </p:cNvPr>
          <p:cNvCxnSpPr/>
          <p:nvPr/>
        </p:nvCxnSpPr>
        <p:spPr>
          <a:xfrm>
            <a:off x="3775127" y="3429000"/>
            <a:ext cx="1512168" cy="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Rechte verbindingslijn met pijl 25">
            <a:extLst>
              <a:ext uri="{FF2B5EF4-FFF2-40B4-BE49-F238E27FC236}">
                <a16:creationId xmlns:a16="http://schemas.microsoft.com/office/drawing/2014/main" id="{BDBD15BC-71BA-E24A-74C5-4BC4C15E33CA}"/>
              </a:ext>
            </a:extLst>
          </p:cNvPr>
          <p:cNvCxnSpPr/>
          <p:nvPr/>
        </p:nvCxnSpPr>
        <p:spPr>
          <a:xfrm flipV="1">
            <a:off x="6325335" y="2183952"/>
            <a:ext cx="677448" cy="76796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Rechte verbindingslijn met pijl 16">
            <a:extLst>
              <a:ext uri="{FF2B5EF4-FFF2-40B4-BE49-F238E27FC236}">
                <a16:creationId xmlns:a16="http://schemas.microsoft.com/office/drawing/2014/main" id="{9C595A6B-6E4B-EBD7-7E2E-88044E926130}"/>
              </a:ext>
            </a:extLst>
          </p:cNvPr>
          <p:cNvCxnSpPr/>
          <p:nvPr/>
        </p:nvCxnSpPr>
        <p:spPr>
          <a:xfrm>
            <a:off x="6812629" y="3387043"/>
            <a:ext cx="1349804" cy="5284"/>
          </a:xfrm>
          <a:prstGeom prst="straightConnector1">
            <a:avLst/>
          </a:prstGeom>
          <a:ln w="76200">
            <a:solidFill>
              <a:schemeClr val="accent2">
                <a:lumMod val="40000"/>
                <a:lumOff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Rechte verbindingslijn met pijl 18">
            <a:extLst>
              <a:ext uri="{FF2B5EF4-FFF2-40B4-BE49-F238E27FC236}">
                <a16:creationId xmlns:a16="http://schemas.microsoft.com/office/drawing/2014/main" id="{E693F8BA-13AD-2C98-2C8D-70FC1A20E359}"/>
              </a:ext>
            </a:extLst>
          </p:cNvPr>
          <p:cNvCxnSpPr/>
          <p:nvPr/>
        </p:nvCxnSpPr>
        <p:spPr>
          <a:xfrm>
            <a:off x="6416899" y="3724930"/>
            <a:ext cx="647022" cy="745915"/>
          </a:xfrm>
          <a:prstGeom prst="straightConnector1">
            <a:avLst/>
          </a:prstGeom>
          <a:ln w="76200">
            <a:solidFill>
              <a:schemeClr val="accent2">
                <a:lumMod val="40000"/>
                <a:lumOff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15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1CFB5-727D-6066-EACD-76F20A3958B6}"/>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035B0616-A364-21AC-141D-52FE9154E8B5}"/>
              </a:ext>
            </a:extLst>
          </p:cNvPr>
          <p:cNvSpPr>
            <a:spLocks noGrp="1"/>
          </p:cNvSpPr>
          <p:nvPr>
            <p:ph type="title"/>
          </p:nvPr>
        </p:nvSpPr>
        <p:spPr>
          <a:xfrm>
            <a:off x="838200" y="365125"/>
            <a:ext cx="10515600" cy="1325563"/>
          </a:xfrm>
        </p:spPr>
        <p:txBody>
          <a:bodyPr/>
          <a:lstStyle/>
          <a:p>
            <a:r>
              <a:rPr lang="en-US" dirty="0"/>
              <a:t>Anycast</a:t>
            </a:r>
            <a:endParaRPr lang="LID4096" dirty="0"/>
          </a:p>
        </p:txBody>
      </p:sp>
      <p:pic>
        <p:nvPicPr>
          <p:cNvPr id="4098" name="Picture 2" descr="P2p - Free networking icons">
            <a:extLst>
              <a:ext uri="{FF2B5EF4-FFF2-40B4-BE49-F238E27FC236}">
                <a16:creationId xmlns:a16="http://schemas.microsoft.com/office/drawing/2014/main" id="{CB0ACC5C-4E14-123C-22AF-D718EE49E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845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BB526-94B3-B5FB-5C81-75B3638452BB}"/>
              </a:ext>
            </a:extLst>
          </p:cNvPr>
          <p:cNvSpPr>
            <a:spLocks noGrp="1"/>
          </p:cNvSpPr>
          <p:nvPr>
            <p:ph type="title"/>
          </p:nvPr>
        </p:nvSpPr>
        <p:spPr>
          <a:xfrm>
            <a:off x="838200" y="2578648"/>
            <a:ext cx="10515600" cy="1325563"/>
          </a:xfrm>
        </p:spPr>
        <p:txBody>
          <a:bodyPr>
            <a:normAutofit/>
          </a:bodyPr>
          <a:lstStyle/>
          <a:p>
            <a:pPr algn="ctr"/>
            <a:r>
              <a:rPr lang="en-US" sz="6000" dirty="0" err="1"/>
              <a:t>Telecommunicatienetwerken</a:t>
            </a:r>
            <a:endParaRPr lang="LID4096" sz="6000" dirty="0"/>
          </a:p>
        </p:txBody>
      </p:sp>
    </p:spTree>
    <p:extLst>
      <p:ext uri="{BB962C8B-B14F-4D97-AF65-F5344CB8AC3E}">
        <p14:creationId xmlns:p14="http://schemas.microsoft.com/office/powerpoint/2010/main" val="1622210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5A220-13D3-F06B-1193-9B3161F76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25EC0-3D55-73D6-68C5-3E83B737D30D}"/>
              </a:ext>
            </a:extLst>
          </p:cNvPr>
          <p:cNvSpPr>
            <a:spLocks noGrp="1"/>
          </p:cNvSpPr>
          <p:nvPr>
            <p:ph type="title"/>
          </p:nvPr>
        </p:nvSpPr>
        <p:spPr>
          <a:xfrm>
            <a:off x="838200" y="2578648"/>
            <a:ext cx="10515600" cy="1325563"/>
          </a:xfrm>
        </p:spPr>
        <p:txBody>
          <a:bodyPr>
            <a:normAutofit/>
          </a:bodyPr>
          <a:lstStyle/>
          <a:p>
            <a:pPr algn="ctr"/>
            <a:r>
              <a:rPr lang="en-US" sz="6000" dirty="0" err="1"/>
              <a:t>Telecommunicatienetwerken</a:t>
            </a:r>
            <a:endParaRPr lang="LID4096" sz="6000" dirty="0"/>
          </a:p>
        </p:txBody>
      </p:sp>
      <p:sp>
        <p:nvSpPr>
          <p:cNvPr id="4" name="TextBox 3">
            <a:extLst>
              <a:ext uri="{FF2B5EF4-FFF2-40B4-BE49-F238E27FC236}">
                <a16:creationId xmlns:a16="http://schemas.microsoft.com/office/drawing/2014/main" id="{6E961208-9E78-680A-8029-F83B981FC20B}"/>
              </a:ext>
            </a:extLst>
          </p:cNvPr>
          <p:cNvSpPr txBox="1"/>
          <p:nvPr/>
        </p:nvSpPr>
        <p:spPr>
          <a:xfrm>
            <a:off x="3935046" y="4212492"/>
            <a:ext cx="4321908" cy="523220"/>
          </a:xfrm>
          <a:prstGeom prst="rect">
            <a:avLst/>
          </a:prstGeom>
          <a:noFill/>
        </p:spPr>
        <p:txBody>
          <a:bodyPr wrap="square" rtlCol="0">
            <a:spAutoFit/>
          </a:bodyPr>
          <a:lstStyle/>
          <a:p>
            <a:r>
              <a:rPr lang="en-US" sz="2800" dirty="0" err="1"/>
              <a:t>Indeling</a:t>
            </a:r>
            <a:r>
              <a:rPr lang="en-US" sz="2800" dirty="0"/>
              <a:t> op 4 </a:t>
            </a:r>
            <a:r>
              <a:rPr lang="en-US" sz="2800" dirty="0" err="1"/>
              <a:t>manieren</a:t>
            </a:r>
            <a:endParaRPr lang="LID4096" sz="2800" dirty="0"/>
          </a:p>
        </p:txBody>
      </p:sp>
    </p:spTree>
    <p:extLst>
      <p:ext uri="{BB962C8B-B14F-4D97-AF65-F5344CB8AC3E}">
        <p14:creationId xmlns:p14="http://schemas.microsoft.com/office/powerpoint/2010/main" val="2039409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67AE0-4676-CA06-1A21-5FFD21571C95}"/>
              </a:ext>
            </a:extLst>
          </p:cNvPr>
          <p:cNvSpPr>
            <a:spLocks noGrp="1"/>
          </p:cNvSpPr>
          <p:nvPr>
            <p:ph type="title"/>
          </p:nvPr>
        </p:nvSpPr>
        <p:spPr/>
        <p:txBody>
          <a:bodyPr/>
          <a:lstStyle/>
          <a:p>
            <a:r>
              <a:rPr lang="en-US" dirty="0"/>
              <a:t>1. Op basis van </a:t>
            </a:r>
            <a:r>
              <a:rPr lang="en-US" dirty="0" err="1"/>
              <a:t>geografische</a:t>
            </a:r>
            <a:r>
              <a:rPr lang="en-US" dirty="0"/>
              <a:t> </a:t>
            </a:r>
            <a:r>
              <a:rPr lang="en-US" dirty="0" err="1"/>
              <a:t>spreiding</a:t>
            </a:r>
            <a:endParaRPr lang="LID4096" dirty="0"/>
          </a:p>
        </p:txBody>
      </p:sp>
      <p:pic>
        <p:nvPicPr>
          <p:cNvPr id="4" name="Picture 2" descr="Consultant Office Building Stock Photo - Download Image Now - Building  Exterior, Office Building Exterior, Small - iStock">
            <a:extLst>
              <a:ext uri="{FF2B5EF4-FFF2-40B4-BE49-F238E27FC236}">
                <a16:creationId xmlns:a16="http://schemas.microsoft.com/office/drawing/2014/main" id="{ED288B46-C5D9-0D6C-A292-A590086F02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646" b="5334"/>
          <a:stretch/>
        </p:blipFill>
        <p:spPr bwMode="auto">
          <a:xfrm>
            <a:off x="1300284" y="1902790"/>
            <a:ext cx="4594684" cy="26349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World population to reach over 8bn by 2030 | The Guardian Nigeria News -  Nigeria and World News — World — The Guardian Nigeria News – Nigeria and  World News">
            <a:extLst>
              <a:ext uri="{FF2B5EF4-FFF2-40B4-BE49-F238E27FC236}">
                <a16:creationId xmlns:a16="http://schemas.microsoft.com/office/drawing/2014/main" id="{C35D6C51-C4CF-22B5-7AE0-DDDB365B6FA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41040" y="1902789"/>
            <a:ext cx="4684294" cy="2634915"/>
          </a:xfrm>
          <a:prstGeom prst="rect">
            <a:avLst/>
          </a:prstGeom>
          <a:noFill/>
          <a:extLst>
            <a:ext uri="{909E8E84-426E-40DD-AFC4-6F175D3DCCD1}">
              <a14:hiddenFill xmlns:a14="http://schemas.microsoft.com/office/drawing/2010/main">
                <a:solidFill>
                  <a:srgbClr val="FFFFFF"/>
                </a:solidFill>
              </a14:hiddenFill>
            </a:ext>
          </a:extLst>
        </p:spPr>
      </p:pic>
      <p:sp>
        <p:nvSpPr>
          <p:cNvPr id="6" name="Rechthoek 19">
            <a:extLst>
              <a:ext uri="{FF2B5EF4-FFF2-40B4-BE49-F238E27FC236}">
                <a16:creationId xmlns:a16="http://schemas.microsoft.com/office/drawing/2014/main" id="{BECE790C-8271-6629-BC50-83C1DF877D6C}"/>
              </a:ext>
            </a:extLst>
          </p:cNvPr>
          <p:cNvSpPr/>
          <p:nvPr/>
        </p:nvSpPr>
        <p:spPr>
          <a:xfrm>
            <a:off x="2705815" y="4679402"/>
            <a:ext cx="1913992" cy="122885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nl-BE" sz="6600" dirty="0">
                <a:solidFill>
                  <a:schemeClr val="tx1"/>
                </a:solidFill>
                <a:latin typeface="Barlow Condensed Medium" panose="00000606000000000000" pitchFamily="2" charset="0"/>
              </a:rPr>
              <a:t>LAN</a:t>
            </a:r>
          </a:p>
        </p:txBody>
      </p:sp>
      <p:sp>
        <p:nvSpPr>
          <p:cNvPr id="7" name="Rechthoek 20">
            <a:extLst>
              <a:ext uri="{FF2B5EF4-FFF2-40B4-BE49-F238E27FC236}">
                <a16:creationId xmlns:a16="http://schemas.microsoft.com/office/drawing/2014/main" id="{0FEC7183-3F70-DD8E-DD33-3297D119B8B2}"/>
              </a:ext>
            </a:extLst>
          </p:cNvPr>
          <p:cNvSpPr/>
          <p:nvPr/>
        </p:nvSpPr>
        <p:spPr>
          <a:xfrm>
            <a:off x="8095299" y="4679402"/>
            <a:ext cx="1913992" cy="122885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nl-BE" sz="6600" dirty="0">
                <a:solidFill>
                  <a:schemeClr val="tx1"/>
                </a:solidFill>
                <a:latin typeface="Barlow Condensed Medium" panose="00000606000000000000" pitchFamily="2" charset="0"/>
              </a:rPr>
              <a:t>WAN</a:t>
            </a:r>
          </a:p>
        </p:txBody>
      </p:sp>
    </p:spTree>
    <p:extLst>
      <p:ext uri="{BB962C8B-B14F-4D97-AF65-F5344CB8AC3E}">
        <p14:creationId xmlns:p14="http://schemas.microsoft.com/office/powerpoint/2010/main" val="290608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B477A-52B2-2137-D34D-7FB4A1C5AF6B}"/>
              </a:ext>
            </a:extLst>
          </p:cNvPr>
          <p:cNvSpPr>
            <a:spLocks noGrp="1"/>
          </p:cNvSpPr>
          <p:nvPr>
            <p:ph type="title"/>
          </p:nvPr>
        </p:nvSpPr>
        <p:spPr>
          <a:xfrm>
            <a:off x="838200" y="576140"/>
            <a:ext cx="10515600" cy="1325563"/>
          </a:xfrm>
        </p:spPr>
        <p:txBody>
          <a:bodyPr/>
          <a:lstStyle/>
          <a:p>
            <a:r>
              <a:rPr lang="en-US" dirty="0"/>
              <a:t>2. Op basis van </a:t>
            </a:r>
            <a:r>
              <a:rPr lang="en-US" dirty="0" err="1"/>
              <a:t>hiërarchie</a:t>
            </a:r>
            <a:r>
              <a:rPr lang="en-US" dirty="0"/>
              <a:t> </a:t>
            </a:r>
            <a:r>
              <a:rPr lang="en-US" dirty="0" err="1"/>
              <a:t>tussen</a:t>
            </a:r>
            <a:r>
              <a:rPr lang="en-US" dirty="0"/>
              <a:t> de </a:t>
            </a:r>
            <a:r>
              <a:rPr lang="en-US" dirty="0" err="1"/>
              <a:t>netwerkcomponenten</a:t>
            </a:r>
            <a:endParaRPr lang="LID4096" dirty="0"/>
          </a:p>
        </p:txBody>
      </p:sp>
      <p:pic>
        <p:nvPicPr>
          <p:cNvPr id="6" name="Afbeelding 12" descr="http://vignette3.wikia.nocookie.net/gtawiki/images/c/c9/Computer_Icon.png/revision/latest?cb=20100421004434">
            <a:extLst>
              <a:ext uri="{FF2B5EF4-FFF2-40B4-BE49-F238E27FC236}">
                <a16:creationId xmlns:a16="http://schemas.microsoft.com/office/drawing/2014/main" id="{F8D5CFB9-3D88-364D-7AA6-29F86CD430D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385547" y="4201152"/>
            <a:ext cx="822503" cy="831854"/>
          </a:xfrm>
          <a:prstGeom prst="rect">
            <a:avLst/>
          </a:prstGeom>
          <a:noFill/>
          <a:ln>
            <a:noFill/>
          </a:ln>
        </p:spPr>
      </p:pic>
      <p:pic>
        <p:nvPicPr>
          <p:cNvPr id="7" name="Afbeelding 13" descr="http://vignette3.wikia.nocookie.net/gtawiki/images/c/c9/Computer_Icon.png/revision/latest?cb=20100421004434">
            <a:extLst>
              <a:ext uri="{FF2B5EF4-FFF2-40B4-BE49-F238E27FC236}">
                <a16:creationId xmlns:a16="http://schemas.microsoft.com/office/drawing/2014/main" id="{9AAEDC1B-A404-C2A4-E7C4-6A8C53E61DF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979129" y="3013073"/>
            <a:ext cx="822503" cy="831854"/>
          </a:xfrm>
          <a:prstGeom prst="rect">
            <a:avLst/>
          </a:prstGeom>
          <a:noFill/>
          <a:ln>
            <a:noFill/>
          </a:ln>
        </p:spPr>
      </p:pic>
      <p:pic>
        <p:nvPicPr>
          <p:cNvPr id="8" name="Afbeelding 16" descr="http://vignette3.wikia.nocookie.net/gtawiki/images/c/c9/Computer_Icon.png/revision/latest?cb=20100421004434">
            <a:extLst>
              <a:ext uri="{FF2B5EF4-FFF2-40B4-BE49-F238E27FC236}">
                <a16:creationId xmlns:a16="http://schemas.microsoft.com/office/drawing/2014/main" id="{03F8393A-1DBA-DD6B-2DF5-F2079832246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466711" y="4169771"/>
            <a:ext cx="822503" cy="831854"/>
          </a:xfrm>
          <a:prstGeom prst="rect">
            <a:avLst/>
          </a:prstGeom>
          <a:noFill/>
          <a:ln>
            <a:noFill/>
          </a:ln>
        </p:spPr>
      </p:pic>
      <p:pic>
        <p:nvPicPr>
          <p:cNvPr id="9" name="Afbeelding 17" descr="http://vignette3.wikia.nocookie.net/gtawiki/images/c/c9/Computer_Icon.png/revision/latest?cb=20100421004434">
            <a:extLst>
              <a:ext uri="{FF2B5EF4-FFF2-40B4-BE49-F238E27FC236}">
                <a16:creationId xmlns:a16="http://schemas.microsoft.com/office/drawing/2014/main" id="{E15090BC-9C44-C5A5-66F2-E758E9AD68E3}"/>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169273" y="5831248"/>
            <a:ext cx="822503" cy="831854"/>
          </a:xfrm>
          <a:prstGeom prst="rect">
            <a:avLst/>
          </a:prstGeom>
          <a:noFill/>
          <a:ln>
            <a:noFill/>
          </a:ln>
        </p:spPr>
      </p:pic>
      <p:pic>
        <p:nvPicPr>
          <p:cNvPr id="10" name="Afbeelding 18" descr="http://vignette3.wikia.nocookie.net/gtawiki/images/c/c9/Computer_Icon.png/revision/latest?cb=20100421004434">
            <a:extLst>
              <a:ext uri="{FF2B5EF4-FFF2-40B4-BE49-F238E27FC236}">
                <a16:creationId xmlns:a16="http://schemas.microsoft.com/office/drawing/2014/main" id="{2D83519A-6A4C-D6C4-D5CD-189CB8D1E37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002110" y="5795687"/>
            <a:ext cx="822503" cy="831854"/>
          </a:xfrm>
          <a:prstGeom prst="rect">
            <a:avLst/>
          </a:prstGeom>
          <a:noFill/>
          <a:ln>
            <a:noFill/>
          </a:ln>
        </p:spPr>
      </p:pic>
      <p:cxnSp>
        <p:nvCxnSpPr>
          <p:cNvPr id="11" name="Rechte verbindingslijn 19">
            <a:extLst>
              <a:ext uri="{FF2B5EF4-FFF2-40B4-BE49-F238E27FC236}">
                <a16:creationId xmlns:a16="http://schemas.microsoft.com/office/drawing/2014/main" id="{882E2EFA-D683-5694-EF3C-97B64B32AAA7}"/>
              </a:ext>
            </a:extLst>
          </p:cNvPr>
          <p:cNvCxnSpPr/>
          <p:nvPr/>
        </p:nvCxnSpPr>
        <p:spPr>
          <a:xfrm flipV="1">
            <a:off x="2208050" y="3729982"/>
            <a:ext cx="783726" cy="52578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20">
            <a:extLst>
              <a:ext uri="{FF2B5EF4-FFF2-40B4-BE49-F238E27FC236}">
                <a16:creationId xmlns:a16="http://schemas.microsoft.com/office/drawing/2014/main" id="{D8C3A3EF-9932-A39A-BB14-69E10C90CE42}"/>
              </a:ext>
            </a:extLst>
          </p:cNvPr>
          <p:cNvCxnSpPr/>
          <p:nvPr/>
        </p:nvCxnSpPr>
        <p:spPr>
          <a:xfrm>
            <a:off x="3861830" y="3608822"/>
            <a:ext cx="710881" cy="584809"/>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21">
            <a:extLst>
              <a:ext uri="{FF2B5EF4-FFF2-40B4-BE49-F238E27FC236}">
                <a16:creationId xmlns:a16="http://schemas.microsoft.com/office/drawing/2014/main" id="{74D78C6A-ECBA-15DF-E745-AD94ADFEB6A2}"/>
              </a:ext>
            </a:extLst>
          </p:cNvPr>
          <p:cNvCxnSpPr/>
          <p:nvPr/>
        </p:nvCxnSpPr>
        <p:spPr>
          <a:xfrm flipV="1">
            <a:off x="4455539" y="5148951"/>
            <a:ext cx="212703" cy="636135"/>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22">
            <a:extLst>
              <a:ext uri="{FF2B5EF4-FFF2-40B4-BE49-F238E27FC236}">
                <a16:creationId xmlns:a16="http://schemas.microsoft.com/office/drawing/2014/main" id="{BC6FA6C2-D369-0AF2-8E95-7799253C5ABD}"/>
              </a:ext>
            </a:extLst>
          </p:cNvPr>
          <p:cNvCxnSpPr/>
          <p:nvPr/>
        </p:nvCxnSpPr>
        <p:spPr>
          <a:xfrm>
            <a:off x="1997473" y="5100539"/>
            <a:ext cx="526757" cy="695148"/>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Rechte verbindingslijn 23">
            <a:extLst>
              <a:ext uri="{FF2B5EF4-FFF2-40B4-BE49-F238E27FC236}">
                <a16:creationId xmlns:a16="http://schemas.microsoft.com/office/drawing/2014/main" id="{339BFD33-835A-7D60-8791-8A7FF5F09BC5}"/>
              </a:ext>
            </a:extLst>
          </p:cNvPr>
          <p:cNvCxnSpPr/>
          <p:nvPr/>
        </p:nvCxnSpPr>
        <p:spPr>
          <a:xfrm flipV="1">
            <a:off x="3103601" y="6186395"/>
            <a:ext cx="786684" cy="19187"/>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Rechte verbindingslijn 24">
            <a:extLst>
              <a:ext uri="{FF2B5EF4-FFF2-40B4-BE49-F238E27FC236}">
                <a16:creationId xmlns:a16="http://schemas.microsoft.com/office/drawing/2014/main" id="{7C486B64-7E8F-2EA7-7253-F46046249582}"/>
              </a:ext>
            </a:extLst>
          </p:cNvPr>
          <p:cNvCxnSpPr/>
          <p:nvPr/>
        </p:nvCxnSpPr>
        <p:spPr>
          <a:xfrm flipV="1">
            <a:off x="2661479" y="3992872"/>
            <a:ext cx="594138" cy="1830709"/>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25">
            <a:extLst>
              <a:ext uri="{FF2B5EF4-FFF2-40B4-BE49-F238E27FC236}">
                <a16:creationId xmlns:a16="http://schemas.microsoft.com/office/drawing/2014/main" id="{C83B7495-3CA2-6D36-F805-41D05986ABB2}"/>
              </a:ext>
            </a:extLst>
          </p:cNvPr>
          <p:cNvCxnSpPr/>
          <p:nvPr/>
        </p:nvCxnSpPr>
        <p:spPr>
          <a:xfrm>
            <a:off x="2320196" y="4564963"/>
            <a:ext cx="1968052"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26">
            <a:extLst>
              <a:ext uri="{FF2B5EF4-FFF2-40B4-BE49-F238E27FC236}">
                <a16:creationId xmlns:a16="http://schemas.microsoft.com/office/drawing/2014/main" id="{B0437834-4464-8E36-6940-00219DD1DE65}"/>
              </a:ext>
            </a:extLst>
          </p:cNvPr>
          <p:cNvCxnSpPr/>
          <p:nvPr/>
        </p:nvCxnSpPr>
        <p:spPr>
          <a:xfrm>
            <a:off x="2262460" y="4761322"/>
            <a:ext cx="1739650" cy="1240281"/>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Rechte verbindingslijn 27">
            <a:extLst>
              <a:ext uri="{FF2B5EF4-FFF2-40B4-BE49-F238E27FC236}">
                <a16:creationId xmlns:a16="http://schemas.microsoft.com/office/drawing/2014/main" id="{C62FCE3A-C4AF-C9B2-7F4E-D93DF01DF885}"/>
              </a:ext>
            </a:extLst>
          </p:cNvPr>
          <p:cNvCxnSpPr/>
          <p:nvPr/>
        </p:nvCxnSpPr>
        <p:spPr>
          <a:xfrm flipV="1">
            <a:off x="2926129" y="4946965"/>
            <a:ext cx="1362119" cy="809592"/>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37">
            <a:extLst>
              <a:ext uri="{FF2B5EF4-FFF2-40B4-BE49-F238E27FC236}">
                <a16:creationId xmlns:a16="http://schemas.microsoft.com/office/drawing/2014/main" id="{8121B2AF-F3C1-917D-07AC-E1C1AA51D72F}"/>
              </a:ext>
            </a:extLst>
          </p:cNvPr>
          <p:cNvCxnSpPr/>
          <p:nvPr/>
        </p:nvCxnSpPr>
        <p:spPr>
          <a:xfrm flipH="1" flipV="1">
            <a:off x="3527536" y="3997495"/>
            <a:ext cx="664732" cy="1785436"/>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1" name="Afbeelding 39" descr="http://vignette3.wikia.nocookie.net/gtawiki/images/c/c9/Computer_Icon.png/revision/latest?cb=20100421004434">
            <a:extLst>
              <a:ext uri="{FF2B5EF4-FFF2-40B4-BE49-F238E27FC236}">
                <a16:creationId xmlns:a16="http://schemas.microsoft.com/office/drawing/2014/main" id="{13024841-FC18-3D32-3CA9-4247BDA0EE6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021494" y="4180893"/>
            <a:ext cx="822503" cy="831854"/>
          </a:xfrm>
          <a:prstGeom prst="rect">
            <a:avLst/>
          </a:prstGeom>
          <a:noFill/>
          <a:ln>
            <a:noFill/>
          </a:ln>
        </p:spPr>
      </p:pic>
      <p:pic>
        <p:nvPicPr>
          <p:cNvPr id="22" name="Afbeelding 40" descr="http://vignette3.wikia.nocookie.net/gtawiki/images/c/c9/Computer_Icon.png/revision/latest?cb=20100421004434">
            <a:extLst>
              <a:ext uri="{FF2B5EF4-FFF2-40B4-BE49-F238E27FC236}">
                <a16:creationId xmlns:a16="http://schemas.microsoft.com/office/drawing/2014/main" id="{B83ED9C5-01F0-2A27-A86C-5C8D66A3E3D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0102658" y="4149512"/>
            <a:ext cx="822503" cy="831854"/>
          </a:xfrm>
          <a:prstGeom prst="rect">
            <a:avLst/>
          </a:prstGeom>
          <a:noFill/>
          <a:ln>
            <a:noFill/>
          </a:ln>
        </p:spPr>
      </p:pic>
      <p:pic>
        <p:nvPicPr>
          <p:cNvPr id="23" name="Afbeelding 41" descr="http://vignette3.wikia.nocookie.net/gtawiki/images/c/c9/Computer_Icon.png/revision/latest?cb=20100421004434">
            <a:extLst>
              <a:ext uri="{FF2B5EF4-FFF2-40B4-BE49-F238E27FC236}">
                <a16:creationId xmlns:a16="http://schemas.microsoft.com/office/drawing/2014/main" id="{25ABA0A8-2225-593E-06E4-0EDBC3ADECF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805220" y="5810989"/>
            <a:ext cx="822503" cy="831854"/>
          </a:xfrm>
          <a:prstGeom prst="rect">
            <a:avLst/>
          </a:prstGeom>
          <a:noFill/>
          <a:ln>
            <a:noFill/>
          </a:ln>
        </p:spPr>
      </p:pic>
      <p:pic>
        <p:nvPicPr>
          <p:cNvPr id="24" name="Afbeelding 42" descr="http://vignette3.wikia.nocookie.net/gtawiki/images/c/c9/Computer_Icon.png/revision/latest?cb=20100421004434">
            <a:extLst>
              <a:ext uri="{FF2B5EF4-FFF2-40B4-BE49-F238E27FC236}">
                <a16:creationId xmlns:a16="http://schemas.microsoft.com/office/drawing/2014/main" id="{E29DEA66-83CF-0198-E05B-CCFAA457D98A}"/>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638057" y="5775428"/>
            <a:ext cx="822503" cy="831854"/>
          </a:xfrm>
          <a:prstGeom prst="rect">
            <a:avLst/>
          </a:prstGeom>
          <a:noFill/>
          <a:ln>
            <a:noFill/>
          </a:ln>
        </p:spPr>
      </p:pic>
      <p:pic>
        <p:nvPicPr>
          <p:cNvPr id="25" name="Afbeelding 43">
            <a:extLst>
              <a:ext uri="{FF2B5EF4-FFF2-40B4-BE49-F238E27FC236}">
                <a16:creationId xmlns:a16="http://schemas.microsoft.com/office/drawing/2014/main" id="{CDED3EBE-EEF9-B3FD-4A62-B881AFEF9B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53266" y="4715947"/>
            <a:ext cx="799441" cy="486839"/>
          </a:xfrm>
          <a:prstGeom prst="rect">
            <a:avLst/>
          </a:prstGeom>
        </p:spPr>
      </p:pic>
      <p:pic>
        <p:nvPicPr>
          <p:cNvPr id="26" name="Picture 2" descr="http://www.clipartkid.com/images/558/server-computer-clipart-clipart-panda-free-clipart-images-LDUr7h-clipart.png">
            <a:extLst>
              <a:ext uri="{FF2B5EF4-FFF2-40B4-BE49-F238E27FC236}">
                <a16:creationId xmlns:a16="http://schemas.microsoft.com/office/drawing/2014/main" id="{B3769735-F2F4-2A54-2C26-F031C2EE6A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42747" y="2961828"/>
            <a:ext cx="709960" cy="1097560"/>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Rechte verbindingslijn 45">
            <a:extLst>
              <a:ext uri="{FF2B5EF4-FFF2-40B4-BE49-F238E27FC236}">
                <a16:creationId xmlns:a16="http://schemas.microsoft.com/office/drawing/2014/main" id="{90B99307-E39E-3A87-2389-10AEA8FC6B2B}"/>
              </a:ext>
            </a:extLst>
          </p:cNvPr>
          <p:cNvCxnSpPr/>
          <p:nvPr/>
        </p:nvCxnSpPr>
        <p:spPr>
          <a:xfrm>
            <a:off x="7958343" y="4688961"/>
            <a:ext cx="498943" cy="180993"/>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47">
            <a:extLst>
              <a:ext uri="{FF2B5EF4-FFF2-40B4-BE49-F238E27FC236}">
                <a16:creationId xmlns:a16="http://schemas.microsoft.com/office/drawing/2014/main" id="{EDB0D947-3B3B-1561-2B9F-3D2F801252EA}"/>
              </a:ext>
            </a:extLst>
          </p:cNvPr>
          <p:cNvCxnSpPr/>
          <p:nvPr/>
        </p:nvCxnSpPr>
        <p:spPr>
          <a:xfrm flipH="1">
            <a:off x="8497405" y="5249975"/>
            <a:ext cx="270753" cy="506707"/>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49">
            <a:extLst>
              <a:ext uri="{FF2B5EF4-FFF2-40B4-BE49-F238E27FC236}">
                <a16:creationId xmlns:a16="http://schemas.microsoft.com/office/drawing/2014/main" id="{86F4082C-243F-40F2-7CCF-2CD86A85B04F}"/>
              </a:ext>
            </a:extLst>
          </p:cNvPr>
          <p:cNvCxnSpPr/>
          <p:nvPr/>
        </p:nvCxnSpPr>
        <p:spPr>
          <a:xfrm>
            <a:off x="9390735" y="5229591"/>
            <a:ext cx="436202" cy="535236"/>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51">
            <a:extLst>
              <a:ext uri="{FF2B5EF4-FFF2-40B4-BE49-F238E27FC236}">
                <a16:creationId xmlns:a16="http://schemas.microsoft.com/office/drawing/2014/main" id="{E4E7DE5A-89C5-AB7B-3BF3-4589A513E16A}"/>
              </a:ext>
            </a:extLst>
          </p:cNvPr>
          <p:cNvCxnSpPr/>
          <p:nvPr/>
        </p:nvCxnSpPr>
        <p:spPr>
          <a:xfrm flipH="1">
            <a:off x="9448687" y="4596820"/>
            <a:ext cx="510597" cy="23574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1" name="Rechte verbindingslijn 54">
            <a:extLst>
              <a:ext uri="{FF2B5EF4-FFF2-40B4-BE49-F238E27FC236}">
                <a16:creationId xmlns:a16="http://schemas.microsoft.com/office/drawing/2014/main" id="{A170A024-72F9-A2CB-2071-1FECD851D3B3}"/>
              </a:ext>
            </a:extLst>
          </p:cNvPr>
          <p:cNvCxnSpPr/>
          <p:nvPr/>
        </p:nvCxnSpPr>
        <p:spPr>
          <a:xfrm>
            <a:off x="8952986" y="4124195"/>
            <a:ext cx="1" cy="526945"/>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2" name="Rechthoek 57">
            <a:extLst>
              <a:ext uri="{FF2B5EF4-FFF2-40B4-BE49-F238E27FC236}">
                <a16:creationId xmlns:a16="http://schemas.microsoft.com/office/drawing/2014/main" id="{6BCFBCDB-9585-8212-4AFC-CD7F3C1AF881}"/>
              </a:ext>
            </a:extLst>
          </p:cNvPr>
          <p:cNvSpPr/>
          <p:nvPr/>
        </p:nvSpPr>
        <p:spPr>
          <a:xfrm>
            <a:off x="1529503" y="1998477"/>
            <a:ext cx="3996065" cy="74409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200" dirty="0">
                <a:solidFill>
                  <a:schemeClr val="accent3"/>
                </a:solidFill>
                <a:latin typeface="Barlow Condensed Medium" panose="00000606000000000000" pitchFamily="2" charset="0"/>
              </a:rPr>
              <a:t>peer-</a:t>
            </a:r>
            <a:r>
              <a:rPr lang="nl-BE" sz="3200" dirty="0" err="1">
                <a:solidFill>
                  <a:schemeClr val="accent3"/>
                </a:solidFill>
                <a:latin typeface="Barlow Condensed Medium" panose="00000606000000000000" pitchFamily="2" charset="0"/>
              </a:rPr>
              <a:t>to</a:t>
            </a:r>
            <a:r>
              <a:rPr lang="nl-BE" sz="3200" dirty="0">
                <a:solidFill>
                  <a:schemeClr val="accent3"/>
                </a:solidFill>
                <a:latin typeface="Barlow Condensed Medium" panose="00000606000000000000" pitchFamily="2" charset="0"/>
              </a:rPr>
              <a:t>-peer netwerk</a:t>
            </a:r>
          </a:p>
        </p:txBody>
      </p:sp>
      <p:sp>
        <p:nvSpPr>
          <p:cNvPr id="33" name="Rechthoek 58">
            <a:extLst>
              <a:ext uri="{FF2B5EF4-FFF2-40B4-BE49-F238E27FC236}">
                <a16:creationId xmlns:a16="http://schemas.microsoft.com/office/drawing/2014/main" id="{A4C24B6F-D862-9E6B-02F3-290EC51287EB}"/>
              </a:ext>
            </a:extLst>
          </p:cNvPr>
          <p:cNvSpPr/>
          <p:nvPr/>
        </p:nvSpPr>
        <p:spPr>
          <a:xfrm>
            <a:off x="6904232" y="1986470"/>
            <a:ext cx="4186990" cy="74409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200" dirty="0" err="1">
                <a:solidFill>
                  <a:schemeClr val="accent3"/>
                </a:solidFill>
                <a:latin typeface="Barlow Condensed Medium" panose="00000606000000000000" pitchFamily="2" charset="0"/>
              </a:rPr>
              <a:t>servergestuurd</a:t>
            </a:r>
            <a:r>
              <a:rPr lang="nl-BE" sz="3200" dirty="0">
                <a:solidFill>
                  <a:schemeClr val="accent3"/>
                </a:solidFill>
                <a:latin typeface="Barlow Condensed Medium" panose="00000606000000000000" pitchFamily="2" charset="0"/>
              </a:rPr>
              <a:t> netwerk</a:t>
            </a:r>
          </a:p>
        </p:txBody>
      </p:sp>
    </p:spTree>
    <p:extLst>
      <p:ext uri="{BB962C8B-B14F-4D97-AF65-F5344CB8AC3E}">
        <p14:creationId xmlns:p14="http://schemas.microsoft.com/office/powerpoint/2010/main" val="165469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childTnLst>
                          </p:cTn>
                        </p:par>
                        <p:par>
                          <p:cTn id="54" fill="hold">
                            <p:stCondLst>
                              <p:cond delay="1000"/>
                            </p:stCondLst>
                            <p:childTnLst>
                              <p:par>
                                <p:cTn id="55" presetID="10"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67" presetID="10" presetClass="entr" presetSubtype="0" fill="hold"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0" presetID="10" presetClass="entr" presetSubtype="0" fill="hold"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par>
                          <p:cTn id="88" fill="hold">
                            <p:stCondLst>
                              <p:cond delay="1500"/>
                            </p:stCondLst>
                            <p:childTnLst>
                              <p:par>
                                <p:cTn id="89" presetID="10" presetClass="entr" presetSubtype="0" fill="hold" grpId="0" nodeType="after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CB771-C02F-04E8-B009-CCEA925B1EB4}"/>
              </a:ext>
            </a:extLst>
          </p:cNvPr>
          <p:cNvSpPr>
            <a:spLocks noGrp="1"/>
          </p:cNvSpPr>
          <p:nvPr>
            <p:ph type="title"/>
          </p:nvPr>
        </p:nvSpPr>
        <p:spPr/>
        <p:txBody>
          <a:bodyPr/>
          <a:lstStyle/>
          <a:p>
            <a:r>
              <a:rPr lang="en-US"/>
              <a:t>3. Op basis van schakeltechniek</a:t>
            </a:r>
            <a:endParaRPr lang="LID4096" dirty="0"/>
          </a:p>
        </p:txBody>
      </p:sp>
      <p:graphicFrame>
        <p:nvGraphicFramePr>
          <p:cNvPr id="5" name="TextBox 3">
            <a:extLst>
              <a:ext uri="{FF2B5EF4-FFF2-40B4-BE49-F238E27FC236}">
                <a16:creationId xmlns:a16="http://schemas.microsoft.com/office/drawing/2014/main" id="{4E5DDF3B-B572-9584-1AE6-EDA4985B79F9}"/>
              </a:ext>
            </a:extLst>
          </p:cNvPr>
          <p:cNvGraphicFramePr/>
          <p:nvPr>
            <p:extLst>
              <p:ext uri="{D42A27DB-BD31-4B8C-83A1-F6EECF244321}">
                <p14:modId xmlns:p14="http://schemas.microsoft.com/office/powerpoint/2010/main" val="53890830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9336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232A-5E16-9657-C451-106FD4D6C011}"/>
              </a:ext>
            </a:extLst>
          </p:cNvPr>
          <p:cNvSpPr>
            <a:spLocks noGrp="1"/>
          </p:cNvSpPr>
          <p:nvPr>
            <p:ph type="title"/>
          </p:nvPr>
        </p:nvSpPr>
        <p:spPr/>
        <p:txBody>
          <a:bodyPr/>
          <a:lstStyle/>
          <a:p>
            <a:r>
              <a:rPr lang="en-US" dirty="0"/>
              <a:t>4. Op basis van </a:t>
            </a:r>
            <a:r>
              <a:rPr lang="en-US" dirty="0" err="1"/>
              <a:t>Datacommunicatietechnologie</a:t>
            </a:r>
            <a:endParaRPr lang="LID4096" dirty="0"/>
          </a:p>
        </p:txBody>
      </p:sp>
      <p:sp>
        <p:nvSpPr>
          <p:cNvPr id="4" name="TextBox 3">
            <a:extLst>
              <a:ext uri="{FF2B5EF4-FFF2-40B4-BE49-F238E27FC236}">
                <a16:creationId xmlns:a16="http://schemas.microsoft.com/office/drawing/2014/main" id="{9D6DD57B-80A1-91B7-5CE5-B92DADC6CE07}"/>
              </a:ext>
            </a:extLst>
          </p:cNvPr>
          <p:cNvSpPr txBox="1"/>
          <p:nvPr/>
        </p:nvSpPr>
        <p:spPr>
          <a:xfrm>
            <a:off x="1036320" y="2245360"/>
            <a:ext cx="7569200" cy="3416320"/>
          </a:xfrm>
          <a:prstGeom prst="rect">
            <a:avLst/>
          </a:prstGeom>
          <a:noFill/>
        </p:spPr>
        <p:txBody>
          <a:bodyPr wrap="square" rtlCol="0">
            <a:spAutoFit/>
          </a:bodyPr>
          <a:lstStyle/>
          <a:p>
            <a:pPr marL="285750" indent="-285750">
              <a:buFont typeface="Arial" panose="020B0604020202020204" pitchFamily="34" charset="0"/>
              <a:buChar char="•"/>
            </a:pPr>
            <a:r>
              <a:rPr lang="en-US" sz="3600" dirty="0" err="1"/>
              <a:t>Telefoonnetwerk</a:t>
            </a:r>
            <a:endParaRPr lang="en-US" sz="3600" dirty="0"/>
          </a:p>
          <a:p>
            <a:pPr marL="285750" indent="-285750">
              <a:buFont typeface="Arial" panose="020B0604020202020204" pitchFamily="34" charset="0"/>
              <a:buChar char="•"/>
            </a:pPr>
            <a:r>
              <a:rPr lang="en-US" sz="3600" dirty="0"/>
              <a:t>ISDN</a:t>
            </a:r>
          </a:p>
          <a:p>
            <a:pPr marL="285750" indent="-285750">
              <a:buFont typeface="Arial" panose="020B0604020202020204" pitchFamily="34" charset="0"/>
              <a:buChar char="•"/>
            </a:pPr>
            <a:r>
              <a:rPr lang="en-US" sz="3600" dirty="0"/>
              <a:t>ADSL</a:t>
            </a:r>
          </a:p>
          <a:p>
            <a:pPr marL="285750" indent="-285750">
              <a:buFont typeface="Arial" panose="020B0604020202020204" pitchFamily="34" charset="0"/>
              <a:buChar char="•"/>
            </a:pPr>
            <a:r>
              <a:rPr lang="en-US" sz="3600" dirty="0" err="1"/>
              <a:t>Glasvezelnetwerk</a:t>
            </a:r>
            <a:endParaRPr lang="en-US" sz="3600" dirty="0"/>
          </a:p>
          <a:p>
            <a:pPr marL="285750" indent="-285750">
              <a:buFont typeface="Arial" panose="020B0604020202020204" pitchFamily="34" charset="0"/>
              <a:buChar char="•"/>
            </a:pPr>
            <a:r>
              <a:rPr lang="en-US" sz="3600" dirty="0" err="1"/>
              <a:t>Mobiele</a:t>
            </a:r>
            <a:r>
              <a:rPr lang="en-US" sz="3600" dirty="0"/>
              <a:t> network</a:t>
            </a:r>
          </a:p>
          <a:p>
            <a:pPr marL="285750" indent="-285750">
              <a:buFont typeface="Arial" panose="020B0604020202020204" pitchFamily="34" charset="0"/>
              <a:buChar char="•"/>
            </a:pPr>
            <a:r>
              <a:rPr lang="en-US" sz="3600" dirty="0" err="1"/>
              <a:t>Satellietverbindingen</a:t>
            </a:r>
            <a:endParaRPr lang="LID4096" sz="3600" dirty="0"/>
          </a:p>
        </p:txBody>
      </p:sp>
    </p:spTree>
    <p:extLst>
      <p:ext uri="{BB962C8B-B14F-4D97-AF65-F5344CB8AC3E}">
        <p14:creationId xmlns:p14="http://schemas.microsoft.com/office/powerpoint/2010/main" val="1240142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03E00-939E-CF5B-7DF7-C27413B25C00}"/>
              </a:ext>
            </a:extLst>
          </p:cNvPr>
          <p:cNvSpPr>
            <a:spLocks noGrp="1"/>
          </p:cNvSpPr>
          <p:nvPr>
            <p:ph type="title"/>
          </p:nvPr>
        </p:nvSpPr>
        <p:spPr>
          <a:xfrm>
            <a:off x="838200" y="2529205"/>
            <a:ext cx="10515600" cy="1325563"/>
          </a:xfrm>
        </p:spPr>
        <p:txBody>
          <a:bodyPr/>
          <a:lstStyle/>
          <a:p>
            <a:pPr algn="ctr"/>
            <a:r>
              <a:rPr lang="en-US" dirty="0"/>
              <a:t>Van </a:t>
            </a:r>
            <a:r>
              <a:rPr lang="en-US" dirty="0" err="1"/>
              <a:t>analoog</a:t>
            </a:r>
            <a:r>
              <a:rPr lang="en-US" dirty="0"/>
              <a:t> </a:t>
            </a:r>
            <a:r>
              <a:rPr lang="en-US" dirty="0" err="1"/>
              <a:t>naar</a:t>
            </a:r>
            <a:r>
              <a:rPr lang="en-US" dirty="0"/>
              <a:t> </a:t>
            </a:r>
            <a:r>
              <a:rPr lang="en-US" dirty="0" err="1"/>
              <a:t>binair</a:t>
            </a:r>
            <a:endParaRPr lang="LID4096" dirty="0"/>
          </a:p>
        </p:txBody>
      </p:sp>
    </p:spTree>
    <p:extLst>
      <p:ext uri="{BB962C8B-B14F-4D97-AF65-F5344CB8AC3E}">
        <p14:creationId xmlns:p14="http://schemas.microsoft.com/office/powerpoint/2010/main" val="2172896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1931-C855-6509-0E91-9191F2B83F39}"/>
              </a:ext>
            </a:extLst>
          </p:cNvPr>
          <p:cNvSpPr>
            <a:spLocks noGrp="1"/>
          </p:cNvSpPr>
          <p:nvPr>
            <p:ph type="title"/>
          </p:nvPr>
        </p:nvSpPr>
        <p:spPr/>
        <p:txBody>
          <a:bodyPr/>
          <a:lstStyle/>
          <a:p>
            <a:r>
              <a:rPr lang="en-US" dirty="0" err="1"/>
              <a:t>Analoog</a:t>
            </a:r>
            <a:r>
              <a:rPr lang="en-US" dirty="0"/>
              <a:t> </a:t>
            </a:r>
            <a:r>
              <a:rPr lang="en-US" dirty="0" err="1"/>
              <a:t>signaal</a:t>
            </a:r>
            <a:endParaRPr lang="LID4096" dirty="0"/>
          </a:p>
        </p:txBody>
      </p:sp>
      <p:pic>
        <p:nvPicPr>
          <p:cNvPr id="4" name="Afbeelding 20">
            <a:extLst>
              <a:ext uri="{FF2B5EF4-FFF2-40B4-BE49-F238E27FC236}">
                <a16:creationId xmlns:a16="http://schemas.microsoft.com/office/drawing/2014/main" id="{3F08204F-443A-F2E2-3C7B-496B1B8B6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 y="1869774"/>
            <a:ext cx="9925050" cy="3524149"/>
          </a:xfrm>
          <a:prstGeom prst="rect">
            <a:avLst/>
          </a:prstGeom>
        </p:spPr>
      </p:pic>
    </p:spTree>
    <p:extLst>
      <p:ext uri="{BB962C8B-B14F-4D97-AF65-F5344CB8AC3E}">
        <p14:creationId xmlns:p14="http://schemas.microsoft.com/office/powerpoint/2010/main" val="90256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5F42-13E4-0B19-511E-283CD11728FE}"/>
              </a:ext>
            </a:extLst>
          </p:cNvPr>
          <p:cNvSpPr>
            <a:spLocks noGrp="1"/>
          </p:cNvSpPr>
          <p:nvPr>
            <p:ph type="title"/>
          </p:nvPr>
        </p:nvSpPr>
        <p:spPr/>
        <p:txBody>
          <a:bodyPr/>
          <a:lstStyle/>
          <a:p>
            <a:r>
              <a:rPr lang="en-US" dirty="0" err="1"/>
              <a:t>Digitaal</a:t>
            </a:r>
            <a:r>
              <a:rPr lang="en-US" dirty="0"/>
              <a:t> </a:t>
            </a:r>
            <a:r>
              <a:rPr lang="en-US" dirty="0" err="1"/>
              <a:t>signaal</a:t>
            </a:r>
            <a:endParaRPr lang="LID4096" dirty="0"/>
          </a:p>
        </p:txBody>
      </p:sp>
      <p:pic>
        <p:nvPicPr>
          <p:cNvPr id="4" name="Afbeelding 8">
            <a:extLst>
              <a:ext uri="{FF2B5EF4-FFF2-40B4-BE49-F238E27FC236}">
                <a16:creationId xmlns:a16="http://schemas.microsoft.com/office/drawing/2014/main" id="{B1657444-662E-812E-7BDA-0B1CF312F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 y="1960077"/>
            <a:ext cx="9925050" cy="3564725"/>
          </a:xfrm>
          <a:prstGeom prst="rect">
            <a:avLst/>
          </a:prstGeom>
        </p:spPr>
      </p:pic>
    </p:spTree>
    <p:extLst>
      <p:ext uri="{BB962C8B-B14F-4D97-AF65-F5344CB8AC3E}">
        <p14:creationId xmlns:p14="http://schemas.microsoft.com/office/powerpoint/2010/main" val="361556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4146E-575C-A887-D42D-BA46A400CFD7}"/>
              </a:ext>
            </a:extLst>
          </p:cNvPr>
          <p:cNvSpPr>
            <a:spLocks noGrp="1"/>
          </p:cNvSpPr>
          <p:nvPr>
            <p:ph type="title"/>
          </p:nvPr>
        </p:nvSpPr>
        <p:spPr/>
        <p:txBody>
          <a:bodyPr/>
          <a:lstStyle/>
          <a:p>
            <a:r>
              <a:rPr lang="en-US" dirty="0" err="1"/>
              <a:t>Binair</a:t>
            </a:r>
            <a:r>
              <a:rPr lang="en-US" dirty="0"/>
              <a:t> </a:t>
            </a:r>
            <a:r>
              <a:rPr lang="en-US" dirty="0" err="1"/>
              <a:t>signaal</a:t>
            </a:r>
            <a:endParaRPr lang="LID4096" dirty="0"/>
          </a:p>
        </p:txBody>
      </p:sp>
      <p:pic>
        <p:nvPicPr>
          <p:cNvPr id="4" name="Afbeelding 9">
            <a:extLst>
              <a:ext uri="{FF2B5EF4-FFF2-40B4-BE49-F238E27FC236}">
                <a16:creationId xmlns:a16="http://schemas.microsoft.com/office/drawing/2014/main" id="{354A0EA7-3840-2EC6-F339-1549F98AA11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45761" y="1825625"/>
            <a:ext cx="9100477" cy="4351338"/>
          </a:xfrm>
          <a:prstGeom prst="rect">
            <a:avLst/>
          </a:prstGeom>
        </p:spPr>
      </p:pic>
    </p:spTree>
    <p:extLst>
      <p:ext uri="{BB962C8B-B14F-4D97-AF65-F5344CB8AC3E}">
        <p14:creationId xmlns:p14="http://schemas.microsoft.com/office/powerpoint/2010/main" val="112873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F14FB-68B9-66E1-49EF-7621CE438672}"/>
              </a:ext>
            </a:extLst>
          </p:cNvPr>
          <p:cNvSpPr>
            <a:spLocks noGrp="1"/>
          </p:cNvSpPr>
          <p:nvPr>
            <p:ph type="title"/>
          </p:nvPr>
        </p:nvSpPr>
        <p:spPr/>
        <p:txBody>
          <a:bodyPr/>
          <a:lstStyle/>
          <a:p>
            <a:r>
              <a:rPr lang="en-US" dirty="0" err="1"/>
              <a:t>Modulatie</a:t>
            </a:r>
            <a:endParaRPr lang="LID4096" dirty="0"/>
          </a:p>
        </p:txBody>
      </p:sp>
      <p:pic>
        <p:nvPicPr>
          <p:cNvPr id="5" name="Afbeelding 8" descr="fig272">
            <a:extLst>
              <a:ext uri="{FF2B5EF4-FFF2-40B4-BE49-F238E27FC236}">
                <a16:creationId xmlns:a16="http://schemas.microsoft.com/office/drawing/2014/main" id="{477056D9-A352-BDC0-E4D2-0305E23F8366}"/>
              </a:ext>
            </a:extLst>
          </p:cNvPr>
          <p:cNvPicPr>
            <a:picLocks/>
          </p:cNvPicPr>
          <p:nvPr/>
        </p:nvPicPr>
        <p:blipFill rotWithShape="1">
          <a:blip r:embed="rId3">
            <a:extLst>
              <a:ext uri="{28A0092B-C50C-407E-A947-70E740481C1C}">
                <a14:useLocalDpi xmlns:a14="http://schemas.microsoft.com/office/drawing/2010/main" val="0"/>
              </a:ext>
            </a:extLst>
          </a:blip>
          <a:srcRect t="67" r="2" b="12123"/>
          <a:stretch>
            <a:fillRect/>
          </a:stretch>
        </p:blipFill>
        <p:spPr bwMode="auto">
          <a:xfrm>
            <a:off x="2848864" y="1690688"/>
            <a:ext cx="6009855" cy="3694176"/>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275592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8DF51-2B1B-9030-B0D5-1EB9EC8830A7}"/>
              </a:ext>
            </a:extLst>
          </p:cNvPr>
          <p:cNvSpPr>
            <a:spLocks noGrp="1"/>
          </p:cNvSpPr>
          <p:nvPr>
            <p:ph type="title"/>
          </p:nvPr>
        </p:nvSpPr>
        <p:spPr/>
        <p:txBody>
          <a:bodyPr/>
          <a:lstStyle/>
          <a:p>
            <a:r>
              <a:rPr lang="en-US" dirty="0" err="1"/>
              <a:t>Moduleren</a:t>
            </a:r>
            <a:endParaRPr lang="LID4096" dirty="0"/>
          </a:p>
        </p:txBody>
      </p:sp>
      <p:pic>
        <p:nvPicPr>
          <p:cNvPr id="4" name="Afbeelding 9">
            <a:extLst>
              <a:ext uri="{FF2B5EF4-FFF2-40B4-BE49-F238E27FC236}">
                <a16:creationId xmlns:a16="http://schemas.microsoft.com/office/drawing/2014/main" id="{93E48E08-97A9-372B-CFDB-9557D51C1F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922" y="2840036"/>
            <a:ext cx="4206606" cy="2011363"/>
          </a:xfrm>
          <a:prstGeom prst="rect">
            <a:avLst/>
          </a:prstGeom>
        </p:spPr>
      </p:pic>
      <p:sp>
        <p:nvSpPr>
          <p:cNvPr id="5" name="Arrow: Right 4">
            <a:extLst>
              <a:ext uri="{FF2B5EF4-FFF2-40B4-BE49-F238E27FC236}">
                <a16:creationId xmlns:a16="http://schemas.microsoft.com/office/drawing/2014/main" id="{5224DDC8-24EF-04B8-2AE0-C2692749C4E1}"/>
              </a:ext>
            </a:extLst>
          </p:cNvPr>
          <p:cNvSpPr/>
          <p:nvPr/>
        </p:nvSpPr>
        <p:spPr>
          <a:xfrm>
            <a:off x="5425440" y="3576320"/>
            <a:ext cx="1381760" cy="477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6" name="Afbeelding 20">
            <a:extLst>
              <a:ext uri="{FF2B5EF4-FFF2-40B4-BE49-F238E27FC236}">
                <a16:creationId xmlns:a16="http://schemas.microsoft.com/office/drawing/2014/main" id="{B9155D81-74F7-2D48-0CB5-76EFD2151D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5954" y="2840036"/>
            <a:ext cx="4911726" cy="2011362"/>
          </a:xfrm>
          <a:prstGeom prst="rect">
            <a:avLst/>
          </a:prstGeom>
        </p:spPr>
      </p:pic>
      <p:sp>
        <p:nvSpPr>
          <p:cNvPr id="8" name="TextBox 7">
            <a:extLst>
              <a:ext uri="{FF2B5EF4-FFF2-40B4-BE49-F238E27FC236}">
                <a16:creationId xmlns:a16="http://schemas.microsoft.com/office/drawing/2014/main" id="{29515330-C741-C883-2733-21D30FBEE748}"/>
              </a:ext>
            </a:extLst>
          </p:cNvPr>
          <p:cNvSpPr txBox="1"/>
          <p:nvPr/>
        </p:nvSpPr>
        <p:spPr>
          <a:xfrm>
            <a:off x="1906625" y="5252720"/>
            <a:ext cx="1473200" cy="523220"/>
          </a:xfrm>
          <a:prstGeom prst="rect">
            <a:avLst/>
          </a:prstGeom>
          <a:noFill/>
        </p:spPr>
        <p:txBody>
          <a:bodyPr wrap="square" rtlCol="0">
            <a:spAutoFit/>
          </a:bodyPr>
          <a:lstStyle/>
          <a:p>
            <a:r>
              <a:rPr lang="en-US" sz="2800" dirty="0" err="1"/>
              <a:t>Digitaal</a:t>
            </a:r>
            <a:endParaRPr lang="LID4096" sz="2800" dirty="0"/>
          </a:p>
        </p:txBody>
      </p:sp>
      <p:sp>
        <p:nvSpPr>
          <p:cNvPr id="9" name="TextBox 8">
            <a:extLst>
              <a:ext uri="{FF2B5EF4-FFF2-40B4-BE49-F238E27FC236}">
                <a16:creationId xmlns:a16="http://schemas.microsoft.com/office/drawing/2014/main" id="{A6D963F2-1AC6-5099-C9C0-F3D9E46C601C}"/>
              </a:ext>
            </a:extLst>
          </p:cNvPr>
          <p:cNvSpPr txBox="1"/>
          <p:nvPr/>
        </p:nvSpPr>
        <p:spPr>
          <a:xfrm>
            <a:off x="8725217" y="5252720"/>
            <a:ext cx="1473200" cy="523220"/>
          </a:xfrm>
          <a:prstGeom prst="rect">
            <a:avLst/>
          </a:prstGeom>
          <a:noFill/>
        </p:spPr>
        <p:txBody>
          <a:bodyPr wrap="square" rtlCol="0">
            <a:spAutoFit/>
          </a:bodyPr>
          <a:lstStyle/>
          <a:p>
            <a:r>
              <a:rPr lang="en-US" sz="2800" dirty="0" err="1"/>
              <a:t>Analoog</a:t>
            </a:r>
            <a:endParaRPr lang="LID4096" sz="2800" dirty="0"/>
          </a:p>
        </p:txBody>
      </p:sp>
    </p:spTree>
    <p:extLst>
      <p:ext uri="{BB962C8B-B14F-4D97-AF65-F5344CB8AC3E}">
        <p14:creationId xmlns:p14="http://schemas.microsoft.com/office/powerpoint/2010/main" val="31381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3044-8542-BC69-842B-1AEACE543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01A0D-492E-3333-C6AE-B5EAFFD7D484}"/>
              </a:ext>
            </a:extLst>
          </p:cNvPr>
          <p:cNvSpPr>
            <a:spLocks noGrp="1"/>
          </p:cNvSpPr>
          <p:nvPr>
            <p:ph type="title"/>
          </p:nvPr>
        </p:nvSpPr>
        <p:spPr/>
        <p:txBody>
          <a:bodyPr/>
          <a:lstStyle/>
          <a:p>
            <a:r>
              <a:rPr lang="en-US" dirty="0" err="1"/>
              <a:t>Demoduleren</a:t>
            </a:r>
            <a:endParaRPr lang="LID4096" dirty="0"/>
          </a:p>
        </p:txBody>
      </p:sp>
      <p:sp>
        <p:nvSpPr>
          <p:cNvPr id="5" name="Arrow: Right 4">
            <a:extLst>
              <a:ext uri="{FF2B5EF4-FFF2-40B4-BE49-F238E27FC236}">
                <a16:creationId xmlns:a16="http://schemas.microsoft.com/office/drawing/2014/main" id="{4335C0A4-B95B-5846-7AAC-21B9777833D6}"/>
              </a:ext>
            </a:extLst>
          </p:cNvPr>
          <p:cNvSpPr/>
          <p:nvPr/>
        </p:nvSpPr>
        <p:spPr>
          <a:xfrm>
            <a:off x="5425440" y="3576320"/>
            <a:ext cx="1381760" cy="477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6" name="Afbeelding 20">
            <a:extLst>
              <a:ext uri="{FF2B5EF4-FFF2-40B4-BE49-F238E27FC236}">
                <a16:creationId xmlns:a16="http://schemas.microsoft.com/office/drawing/2014/main" id="{351068EC-A0CA-B69A-4C5C-C66E2CB05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237" y="2809399"/>
            <a:ext cx="4911726" cy="2011362"/>
          </a:xfrm>
          <a:prstGeom prst="rect">
            <a:avLst/>
          </a:prstGeom>
        </p:spPr>
      </p:pic>
      <p:pic>
        <p:nvPicPr>
          <p:cNvPr id="8" name="Afbeelding 9">
            <a:extLst>
              <a:ext uri="{FF2B5EF4-FFF2-40B4-BE49-F238E27FC236}">
                <a16:creationId xmlns:a16="http://schemas.microsoft.com/office/drawing/2014/main" id="{8483BD69-2FA3-1977-11C2-26104D525D0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183120" y="2717271"/>
            <a:ext cx="4399280" cy="2103489"/>
          </a:xfrm>
          <a:prstGeom prst="rect">
            <a:avLst/>
          </a:prstGeom>
        </p:spPr>
      </p:pic>
      <p:sp>
        <p:nvSpPr>
          <p:cNvPr id="9" name="TextBox 8">
            <a:extLst>
              <a:ext uri="{FF2B5EF4-FFF2-40B4-BE49-F238E27FC236}">
                <a16:creationId xmlns:a16="http://schemas.microsoft.com/office/drawing/2014/main" id="{ED9CBFDB-2506-164E-DB91-4239C2524128}"/>
              </a:ext>
            </a:extLst>
          </p:cNvPr>
          <p:cNvSpPr txBox="1"/>
          <p:nvPr/>
        </p:nvSpPr>
        <p:spPr>
          <a:xfrm>
            <a:off x="8646160" y="5130800"/>
            <a:ext cx="1473200" cy="523220"/>
          </a:xfrm>
          <a:prstGeom prst="rect">
            <a:avLst/>
          </a:prstGeom>
          <a:noFill/>
        </p:spPr>
        <p:txBody>
          <a:bodyPr wrap="square" rtlCol="0">
            <a:spAutoFit/>
          </a:bodyPr>
          <a:lstStyle/>
          <a:p>
            <a:r>
              <a:rPr lang="en-US" sz="2800" dirty="0" err="1"/>
              <a:t>Digitaal</a:t>
            </a:r>
            <a:endParaRPr lang="LID4096" sz="2800" dirty="0"/>
          </a:p>
        </p:txBody>
      </p:sp>
      <p:sp>
        <p:nvSpPr>
          <p:cNvPr id="10" name="TextBox 9">
            <a:extLst>
              <a:ext uri="{FF2B5EF4-FFF2-40B4-BE49-F238E27FC236}">
                <a16:creationId xmlns:a16="http://schemas.microsoft.com/office/drawing/2014/main" id="{1F00C674-D542-8A22-4C28-D6529C3BAB91}"/>
              </a:ext>
            </a:extLst>
          </p:cNvPr>
          <p:cNvSpPr txBox="1"/>
          <p:nvPr/>
        </p:nvSpPr>
        <p:spPr>
          <a:xfrm>
            <a:off x="1968500" y="5130800"/>
            <a:ext cx="1473200" cy="523220"/>
          </a:xfrm>
          <a:prstGeom prst="rect">
            <a:avLst/>
          </a:prstGeom>
          <a:noFill/>
        </p:spPr>
        <p:txBody>
          <a:bodyPr wrap="square" rtlCol="0">
            <a:spAutoFit/>
          </a:bodyPr>
          <a:lstStyle/>
          <a:p>
            <a:r>
              <a:rPr lang="en-US" sz="2800" dirty="0" err="1"/>
              <a:t>Analoog</a:t>
            </a:r>
            <a:endParaRPr lang="LID4096" sz="2800" dirty="0"/>
          </a:p>
        </p:txBody>
      </p:sp>
    </p:spTree>
    <p:extLst>
      <p:ext uri="{BB962C8B-B14F-4D97-AF65-F5344CB8AC3E}">
        <p14:creationId xmlns:p14="http://schemas.microsoft.com/office/powerpoint/2010/main" val="424852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CD3C-EBC6-7A54-E536-08BCA7BA5AF3}"/>
              </a:ext>
            </a:extLst>
          </p:cNvPr>
          <p:cNvSpPr>
            <a:spLocks noGrp="1"/>
          </p:cNvSpPr>
          <p:nvPr>
            <p:ph type="title"/>
          </p:nvPr>
        </p:nvSpPr>
        <p:spPr/>
        <p:txBody>
          <a:bodyPr/>
          <a:lstStyle/>
          <a:p>
            <a:r>
              <a:rPr lang="en-US" dirty="0"/>
              <a:t>Modem</a:t>
            </a:r>
            <a:endParaRPr lang="LID4096" dirty="0"/>
          </a:p>
        </p:txBody>
      </p:sp>
      <p:pic>
        <p:nvPicPr>
          <p:cNvPr id="2050" name="Picture 2" descr="What Is A Modem? What Does A Modem Do?">
            <a:extLst>
              <a:ext uri="{FF2B5EF4-FFF2-40B4-BE49-F238E27FC236}">
                <a16:creationId xmlns:a16="http://schemas.microsoft.com/office/drawing/2014/main" id="{E0B628BA-F0A3-D5F0-0C4B-203ABED08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4722" y="1390991"/>
            <a:ext cx="5202555" cy="4076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76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B217-4A3F-A895-B0EE-4186EAEEBC9C}"/>
              </a:ext>
            </a:extLst>
          </p:cNvPr>
          <p:cNvSpPr>
            <a:spLocks noGrp="1"/>
          </p:cNvSpPr>
          <p:nvPr>
            <p:ph type="title"/>
          </p:nvPr>
        </p:nvSpPr>
        <p:spPr>
          <a:xfrm>
            <a:off x="838200" y="2519045"/>
            <a:ext cx="10515600" cy="1325563"/>
          </a:xfrm>
        </p:spPr>
        <p:txBody>
          <a:bodyPr>
            <a:normAutofit/>
          </a:bodyPr>
          <a:lstStyle/>
          <a:p>
            <a:pPr algn="ctr"/>
            <a:r>
              <a:rPr lang="en-US" sz="6000" dirty="0" err="1"/>
              <a:t>Gegevensoverdracht</a:t>
            </a:r>
            <a:endParaRPr lang="LID4096" sz="6000" dirty="0"/>
          </a:p>
        </p:txBody>
      </p:sp>
    </p:spTree>
    <p:extLst>
      <p:ext uri="{BB962C8B-B14F-4D97-AF65-F5344CB8AC3E}">
        <p14:creationId xmlns:p14="http://schemas.microsoft.com/office/powerpoint/2010/main" val="1056245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058DD-1549-0655-D98F-9125044A2419}"/>
              </a:ext>
            </a:extLst>
          </p:cNvPr>
          <p:cNvSpPr>
            <a:spLocks noGrp="1"/>
          </p:cNvSpPr>
          <p:nvPr>
            <p:ph type="title"/>
          </p:nvPr>
        </p:nvSpPr>
        <p:spPr/>
        <p:txBody>
          <a:bodyPr/>
          <a:lstStyle/>
          <a:p>
            <a:r>
              <a:rPr lang="en-US" dirty="0" err="1"/>
              <a:t>Parallelle</a:t>
            </a:r>
            <a:r>
              <a:rPr lang="en-US" dirty="0"/>
              <a:t> </a:t>
            </a:r>
            <a:r>
              <a:rPr lang="en-US" dirty="0" err="1"/>
              <a:t>gegevensoverdracht</a:t>
            </a:r>
            <a:endParaRPr lang="LID4096" dirty="0"/>
          </a:p>
        </p:txBody>
      </p:sp>
      <p:pic>
        <p:nvPicPr>
          <p:cNvPr id="5" name="Afbeelding 21">
            <a:extLst>
              <a:ext uri="{FF2B5EF4-FFF2-40B4-BE49-F238E27FC236}">
                <a16:creationId xmlns:a16="http://schemas.microsoft.com/office/drawing/2014/main" id="{29AF6FE4-6ADE-C358-5C15-F52655545DE6}"/>
              </a:ext>
            </a:extLst>
          </p:cNvPr>
          <p:cNvPicPr/>
          <p:nvPr/>
        </p:nvPicPr>
        <p:blipFill>
          <a:blip r:embed="rId3">
            <a:extLst>
              <a:ext uri="{28A0092B-C50C-407E-A947-70E740481C1C}">
                <a14:useLocalDpi xmlns:a14="http://schemas.microsoft.com/office/drawing/2010/main" val="0"/>
              </a:ext>
            </a:extLst>
          </a:blip>
          <a:stretch>
            <a:fillRect/>
          </a:stretch>
        </p:blipFill>
        <p:spPr>
          <a:xfrm>
            <a:off x="4118411" y="1822200"/>
            <a:ext cx="3955177" cy="4506945"/>
          </a:xfrm>
          <a:prstGeom prst="rect">
            <a:avLst/>
          </a:prstGeom>
        </p:spPr>
      </p:pic>
    </p:spTree>
    <p:extLst>
      <p:ext uri="{BB962C8B-B14F-4D97-AF65-F5344CB8AC3E}">
        <p14:creationId xmlns:p14="http://schemas.microsoft.com/office/powerpoint/2010/main" val="35376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EF90A-3DEA-AB84-E760-AF762E73A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1D108-FC9D-B1CC-D27E-4142991992BA}"/>
              </a:ext>
            </a:extLst>
          </p:cNvPr>
          <p:cNvSpPr>
            <a:spLocks noGrp="1"/>
          </p:cNvSpPr>
          <p:nvPr>
            <p:ph type="title"/>
          </p:nvPr>
        </p:nvSpPr>
        <p:spPr/>
        <p:txBody>
          <a:bodyPr/>
          <a:lstStyle/>
          <a:p>
            <a:r>
              <a:rPr lang="en-US" dirty="0" err="1"/>
              <a:t>Parallelle</a:t>
            </a:r>
            <a:r>
              <a:rPr lang="en-US" dirty="0"/>
              <a:t> </a:t>
            </a:r>
            <a:r>
              <a:rPr lang="en-US" dirty="0" err="1"/>
              <a:t>gegevensoverdracht</a:t>
            </a:r>
            <a:endParaRPr lang="LID4096" dirty="0"/>
          </a:p>
        </p:txBody>
      </p:sp>
      <p:pic>
        <p:nvPicPr>
          <p:cNvPr id="3" name="Picture 2" descr="Parallel port - Wikipedia">
            <a:extLst>
              <a:ext uri="{FF2B5EF4-FFF2-40B4-BE49-F238E27FC236}">
                <a16:creationId xmlns:a16="http://schemas.microsoft.com/office/drawing/2014/main" id="{C89A7B3C-0F5A-9E81-D853-69500CFFAA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5241" b="28665"/>
          <a:stretch/>
        </p:blipFill>
        <p:spPr bwMode="auto">
          <a:xfrm>
            <a:off x="1139523" y="2423695"/>
            <a:ext cx="9912953" cy="2683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40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AC142-ED10-9ACF-B0B5-E49668CE9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84040-7192-73C8-F1CC-B03DAFBE2706}"/>
              </a:ext>
            </a:extLst>
          </p:cNvPr>
          <p:cNvSpPr>
            <a:spLocks noGrp="1"/>
          </p:cNvSpPr>
          <p:nvPr>
            <p:ph type="title"/>
          </p:nvPr>
        </p:nvSpPr>
        <p:spPr/>
        <p:txBody>
          <a:bodyPr/>
          <a:lstStyle/>
          <a:p>
            <a:r>
              <a:rPr lang="en-US" dirty="0" err="1"/>
              <a:t>Seriële</a:t>
            </a:r>
            <a:r>
              <a:rPr lang="en-US" dirty="0"/>
              <a:t> </a:t>
            </a:r>
            <a:r>
              <a:rPr lang="en-US" dirty="0" err="1"/>
              <a:t>gegevensoverdracht</a:t>
            </a:r>
            <a:endParaRPr lang="LID4096" dirty="0"/>
          </a:p>
        </p:txBody>
      </p:sp>
      <p:sp>
        <p:nvSpPr>
          <p:cNvPr id="8" name="Rechthoek 1">
            <a:extLst>
              <a:ext uri="{FF2B5EF4-FFF2-40B4-BE49-F238E27FC236}">
                <a16:creationId xmlns:a16="http://schemas.microsoft.com/office/drawing/2014/main" id="{7A45D32E-353F-61C7-B3BC-4DC069592AF3}"/>
              </a:ext>
            </a:extLst>
          </p:cNvPr>
          <p:cNvSpPr/>
          <p:nvPr/>
        </p:nvSpPr>
        <p:spPr>
          <a:xfrm>
            <a:off x="3878580" y="1438977"/>
            <a:ext cx="4622132" cy="520372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t"/>
          <a:lstStyle/>
          <a:p>
            <a:pPr>
              <a:lnSpc>
                <a:spcPct val="150000"/>
              </a:lnSpc>
              <a:tabLst>
                <a:tab pos="4127500" algn="l"/>
              </a:tabLst>
            </a:pPr>
            <a:r>
              <a:rPr lang="nl-BE" sz="2800" dirty="0">
                <a:solidFill>
                  <a:schemeClr val="tx1"/>
                </a:solidFill>
                <a:latin typeface="Barlow Condensed Medium" panose="00000606000000000000" pitchFamily="2" charset="0"/>
              </a:rPr>
              <a:t>1	1</a:t>
            </a:r>
          </a:p>
          <a:p>
            <a:pPr>
              <a:lnSpc>
                <a:spcPct val="150000"/>
              </a:lnSpc>
              <a:tabLst>
                <a:tab pos="4127500" algn="l"/>
              </a:tabLst>
            </a:pPr>
            <a:r>
              <a:rPr lang="nl-BE" sz="2800" dirty="0">
                <a:solidFill>
                  <a:schemeClr val="tx1"/>
                </a:solidFill>
                <a:latin typeface="Barlow Condensed Medium" panose="00000606000000000000" pitchFamily="2" charset="0"/>
              </a:rPr>
              <a:t>1	1</a:t>
            </a:r>
          </a:p>
          <a:p>
            <a:pPr>
              <a:lnSpc>
                <a:spcPct val="150000"/>
              </a:lnSpc>
              <a:tabLst>
                <a:tab pos="4127500" algn="l"/>
              </a:tabLst>
            </a:pPr>
            <a:r>
              <a:rPr lang="nl-BE" sz="2800" dirty="0">
                <a:solidFill>
                  <a:schemeClr val="tx1"/>
                </a:solidFill>
                <a:latin typeface="Barlow Condensed Medium" panose="00000606000000000000" pitchFamily="2" charset="0"/>
              </a:rPr>
              <a:t>0	0</a:t>
            </a:r>
          </a:p>
          <a:p>
            <a:pPr>
              <a:lnSpc>
                <a:spcPct val="150000"/>
              </a:lnSpc>
              <a:tabLst>
                <a:tab pos="4127500" algn="l"/>
              </a:tabLst>
            </a:pPr>
            <a:r>
              <a:rPr lang="nl-BE" sz="2800" dirty="0">
                <a:solidFill>
                  <a:schemeClr val="tx1"/>
                </a:solidFill>
                <a:latin typeface="Barlow Condensed Medium" panose="00000606000000000000" pitchFamily="2" charset="0"/>
              </a:rPr>
              <a:t>1	1</a:t>
            </a:r>
          </a:p>
          <a:p>
            <a:pPr>
              <a:lnSpc>
                <a:spcPct val="150000"/>
              </a:lnSpc>
              <a:tabLst>
                <a:tab pos="4127500" algn="l"/>
              </a:tabLst>
            </a:pPr>
            <a:r>
              <a:rPr lang="nl-BE" sz="2800" dirty="0">
                <a:solidFill>
                  <a:schemeClr val="tx1"/>
                </a:solidFill>
                <a:latin typeface="Barlow Condensed Medium" panose="00000606000000000000" pitchFamily="2" charset="0"/>
              </a:rPr>
              <a:t>0	0</a:t>
            </a:r>
          </a:p>
          <a:p>
            <a:pPr>
              <a:lnSpc>
                <a:spcPct val="150000"/>
              </a:lnSpc>
              <a:tabLst>
                <a:tab pos="4127500" algn="l"/>
              </a:tabLst>
            </a:pPr>
            <a:r>
              <a:rPr lang="nl-BE" sz="2800" dirty="0">
                <a:solidFill>
                  <a:schemeClr val="tx1"/>
                </a:solidFill>
                <a:latin typeface="Barlow Condensed Medium" panose="00000606000000000000" pitchFamily="2" charset="0"/>
              </a:rPr>
              <a:t>0	0</a:t>
            </a:r>
          </a:p>
          <a:p>
            <a:pPr>
              <a:lnSpc>
                <a:spcPct val="150000"/>
              </a:lnSpc>
              <a:tabLst>
                <a:tab pos="4127500" algn="l"/>
              </a:tabLst>
            </a:pPr>
            <a:r>
              <a:rPr lang="nl-BE" sz="2800" dirty="0">
                <a:solidFill>
                  <a:schemeClr val="tx1"/>
                </a:solidFill>
                <a:latin typeface="Barlow Condensed Medium" panose="00000606000000000000" pitchFamily="2" charset="0"/>
              </a:rPr>
              <a:t>1	1</a:t>
            </a:r>
          </a:p>
          <a:p>
            <a:pPr>
              <a:lnSpc>
                <a:spcPct val="150000"/>
              </a:lnSpc>
              <a:tabLst>
                <a:tab pos="4127500" algn="l"/>
              </a:tabLst>
            </a:pPr>
            <a:r>
              <a:rPr lang="nl-BE" sz="2800" dirty="0">
                <a:solidFill>
                  <a:schemeClr val="tx1"/>
                </a:solidFill>
                <a:latin typeface="Barlow Condensed Medium" panose="00000606000000000000" pitchFamily="2" charset="0"/>
              </a:rPr>
              <a:t>0	0</a:t>
            </a:r>
          </a:p>
          <a:p>
            <a:endParaRPr lang="nl-BE" sz="3200" dirty="0">
              <a:latin typeface="Barlow Condensed Medium" panose="00000606000000000000" pitchFamily="2" charset="0"/>
            </a:endParaRPr>
          </a:p>
          <a:p>
            <a:endParaRPr lang="nl-BE" sz="3200" dirty="0">
              <a:latin typeface="Barlow Condensed Medium" panose="00000606000000000000" pitchFamily="2" charset="0"/>
            </a:endParaRPr>
          </a:p>
          <a:p>
            <a:endParaRPr lang="nl-BE" sz="3200" dirty="0">
              <a:latin typeface="Barlow Condensed Medium" panose="00000606000000000000" pitchFamily="2" charset="0"/>
            </a:endParaRPr>
          </a:p>
          <a:p>
            <a:endParaRPr lang="nl-BE" sz="3200" dirty="0">
              <a:latin typeface="Barlow Condensed Medium" panose="00000606000000000000" pitchFamily="2" charset="0"/>
            </a:endParaRPr>
          </a:p>
        </p:txBody>
      </p:sp>
      <p:cxnSp>
        <p:nvCxnSpPr>
          <p:cNvPr id="9" name="Rechte verbindingslijn 13">
            <a:extLst>
              <a:ext uri="{FF2B5EF4-FFF2-40B4-BE49-F238E27FC236}">
                <a16:creationId xmlns:a16="http://schemas.microsoft.com/office/drawing/2014/main" id="{55D2EE29-E6D3-B661-2CB9-81EDC0C8FF5F}"/>
              </a:ext>
            </a:extLst>
          </p:cNvPr>
          <p:cNvCxnSpPr/>
          <p:nvPr/>
        </p:nvCxnSpPr>
        <p:spPr>
          <a:xfrm>
            <a:off x="4241533" y="4032560"/>
            <a:ext cx="3713748" cy="82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kstvak 22">
            <a:extLst>
              <a:ext uri="{FF2B5EF4-FFF2-40B4-BE49-F238E27FC236}">
                <a16:creationId xmlns:a16="http://schemas.microsoft.com/office/drawing/2014/main" id="{814C794E-85E9-0260-EDA1-F39E2F6E6AB7}"/>
              </a:ext>
            </a:extLst>
          </p:cNvPr>
          <p:cNvSpPr txBox="1"/>
          <p:nvPr/>
        </p:nvSpPr>
        <p:spPr>
          <a:xfrm>
            <a:off x="5601099" y="4030323"/>
            <a:ext cx="1359568" cy="523220"/>
          </a:xfrm>
          <a:prstGeom prst="rect">
            <a:avLst/>
          </a:prstGeom>
          <a:noFill/>
        </p:spPr>
        <p:txBody>
          <a:bodyPr wrap="square" rtlCol="0">
            <a:spAutoFit/>
          </a:bodyPr>
          <a:lstStyle/>
          <a:p>
            <a:r>
              <a:rPr lang="nl-BE" sz="2800" dirty="0">
                <a:latin typeface="Barlow Condensed Medium" panose="00000606000000000000" pitchFamily="2" charset="0"/>
              </a:rPr>
              <a:t>11010010</a:t>
            </a:r>
          </a:p>
        </p:txBody>
      </p:sp>
      <p:cxnSp>
        <p:nvCxnSpPr>
          <p:cNvPr id="13" name="Rechte verbindingslijn 4">
            <a:extLst>
              <a:ext uri="{FF2B5EF4-FFF2-40B4-BE49-F238E27FC236}">
                <a16:creationId xmlns:a16="http://schemas.microsoft.com/office/drawing/2014/main" id="{AB7F7B24-EE24-9C43-3B71-2D87F3D3496A}"/>
              </a:ext>
            </a:extLst>
          </p:cNvPr>
          <p:cNvCxnSpPr/>
          <p:nvPr/>
        </p:nvCxnSpPr>
        <p:spPr>
          <a:xfrm>
            <a:off x="4241534" y="1749802"/>
            <a:ext cx="0" cy="47203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12">
            <a:extLst>
              <a:ext uri="{FF2B5EF4-FFF2-40B4-BE49-F238E27FC236}">
                <a16:creationId xmlns:a16="http://schemas.microsoft.com/office/drawing/2014/main" id="{37F783FF-AB5D-4703-2B76-C5754570465F}"/>
              </a:ext>
            </a:extLst>
          </p:cNvPr>
          <p:cNvCxnSpPr/>
          <p:nvPr/>
        </p:nvCxnSpPr>
        <p:spPr>
          <a:xfrm>
            <a:off x="7955282" y="1690688"/>
            <a:ext cx="0" cy="47203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AD1AB29-34E3-CEDC-9477-D381496F3D80}"/>
              </a:ext>
            </a:extLst>
          </p:cNvPr>
          <p:cNvSpPr txBox="1"/>
          <p:nvPr/>
        </p:nvSpPr>
        <p:spPr>
          <a:xfrm>
            <a:off x="4241533" y="3637280"/>
            <a:ext cx="994611" cy="369332"/>
          </a:xfrm>
          <a:prstGeom prst="rect">
            <a:avLst/>
          </a:prstGeom>
          <a:noFill/>
        </p:spPr>
        <p:txBody>
          <a:bodyPr wrap="square" rtlCol="0">
            <a:spAutoFit/>
          </a:bodyPr>
          <a:lstStyle/>
          <a:p>
            <a:r>
              <a:rPr lang="en-US" b="1" dirty="0"/>
              <a:t>REQ</a:t>
            </a:r>
            <a:endParaRPr lang="LID4096" b="1" dirty="0"/>
          </a:p>
        </p:txBody>
      </p:sp>
      <p:sp>
        <p:nvSpPr>
          <p:cNvPr id="4" name="TextBox 3">
            <a:extLst>
              <a:ext uri="{FF2B5EF4-FFF2-40B4-BE49-F238E27FC236}">
                <a16:creationId xmlns:a16="http://schemas.microsoft.com/office/drawing/2014/main" id="{F8899955-E7E7-F5F8-CCFC-66D91B3A79AF}"/>
              </a:ext>
            </a:extLst>
          </p:cNvPr>
          <p:cNvSpPr txBox="1"/>
          <p:nvPr/>
        </p:nvSpPr>
        <p:spPr>
          <a:xfrm>
            <a:off x="7323624" y="3681542"/>
            <a:ext cx="994611" cy="369332"/>
          </a:xfrm>
          <a:prstGeom prst="rect">
            <a:avLst/>
          </a:prstGeom>
          <a:noFill/>
        </p:spPr>
        <p:txBody>
          <a:bodyPr wrap="square" rtlCol="0">
            <a:spAutoFit/>
          </a:bodyPr>
          <a:lstStyle/>
          <a:p>
            <a:r>
              <a:rPr lang="en-US" b="1" dirty="0"/>
              <a:t>ACK</a:t>
            </a:r>
            <a:endParaRPr lang="LID4096" b="1" dirty="0"/>
          </a:p>
        </p:txBody>
      </p:sp>
    </p:spTree>
    <p:extLst>
      <p:ext uri="{BB962C8B-B14F-4D97-AF65-F5344CB8AC3E}">
        <p14:creationId xmlns:p14="http://schemas.microsoft.com/office/powerpoint/2010/main" val="9748185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2B5AB-4056-6CA4-FE7C-7634DDA904C8}"/>
              </a:ext>
            </a:extLst>
          </p:cNvPr>
          <p:cNvSpPr>
            <a:spLocks noGrp="1"/>
          </p:cNvSpPr>
          <p:nvPr>
            <p:ph type="title"/>
          </p:nvPr>
        </p:nvSpPr>
        <p:spPr/>
        <p:txBody>
          <a:bodyPr/>
          <a:lstStyle/>
          <a:p>
            <a:r>
              <a:rPr lang="en-US"/>
              <a:t>Beëindigen van verzending</a:t>
            </a:r>
            <a:endParaRPr lang="LID4096" dirty="0"/>
          </a:p>
        </p:txBody>
      </p:sp>
      <p:graphicFrame>
        <p:nvGraphicFramePr>
          <p:cNvPr id="5" name="TextBox 3">
            <a:extLst>
              <a:ext uri="{FF2B5EF4-FFF2-40B4-BE49-F238E27FC236}">
                <a16:creationId xmlns:a16="http://schemas.microsoft.com/office/drawing/2014/main" id="{DCEC2AC6-7E27-252F-6CED-8BC7B30CA46B}"/>
              </a:ext>
            </a:extLst>
          </p:cNvPr>
          <p:cNvGraphicFramePr/>
          <p:nvPr>
            <p:extLst>
              <p:ext uri="{D42A27DB-BD31-4B8C-83A1-F6EECF244321}">
                <p14:modId xmlns:p14="http://schemas.microsoft.com/office/powerpoint/2010/main" val="270026790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42188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0BE8F-2CE3-4BED-42D5-6C039A68FC98}"/>
              </a:ext>
            </a:extLst>
          </p:cNvPr>
          <p:cNvSpPr>
            <a:spLocks noGrp="1"/>
          </p:cNvSpPr>
          <p:nvPr>
            <p:ph type="title"/>
          </p:nvPr>
        </p:nvSpPr>
        <p:spPr>
          <a:xfrm>
            <a:off x="838200" y="2661285"/>
            <a:ext cx="10515600" cy="1325563"/>
          </a:xfrm>
        </p:spPr>
        <p:txBody>
          <a:bodyPr>
            <a:normAutofit/>
          </a:bodyPr>
          <a:lstStyle/>
          <a:p>
            <a:pPr algn="ctr"/>
            <a:r>
              <a:rPr lang="en-US" sz="6600" dirty="0" err="1"/>
              <a:t>Serieel</a:t>
            </a:r>
            <a:r>
              <a:rPr lang="en-US" sz="6600" dirty="0"/>
              <a:t> of Parallel?</a:t>
            </a:r>
            <a:endParaRPr lang="LID4096" sz="6600" dirty="0"/>
          </a:p>
        </p:txBody>
      </p:sp>
    </p:spTree>
    <p:extLst>
      <p:ext uri="{BB962C8B-B14F-4D97-AF65-F5344CB8AC3E}">
        <p14:creationId xmlns:p14="http://schemas.microsoft.com/office/powerpoint/2010/main" val="1218481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CFBCC-BBF4-DE54-CC0A-F405B27CA4AC}"/>
              </a:ext>
            </a:extLst>
          </p:cNvPr>
          <p:cNvSpPr>
            <a:spLocks noGrp="1"/>
          </p:cNvSpPr>
          <p:nvPr>
            <p:ph type="title"/>
          </p:nvPr>
        </p:nvSpPr>
        <p:spPr>
          <a:xfrm>
            <a:off x="838200" y="2766218"/>
            <a:ext cx="10515600" cy="1325563"/>
          </a:xfrm>
        </p:spPr>
        <p:txBody>
          <a:bodyPr>
            <a:normAutofit/>
          </a:bodyPr>
          <a:lstStyle/>
          <a:p>
            <a:pPr algn="ctr"/>
            <a:r>
              <a:rPr lang="en-US" sz="6000" dirty="0" err="1"/>
              <a:t>Transmissiesnelheden</a:t>
            </a:r>
            <a:endParaRPr lang="LID4096" sz="6000" dirty="0"/>
          </a:p>
        </p:txBody>
      </p:sp>
    </p:spTree>
    <p:extLst>
      <p:ext uri="{BB962C8B-B14F-4D97-AF65-F5344CB8AC3E}">
        <p14:creationId xmlns:p14="http://schemas.microsoft.com/office/powerpoint/2010/main" val="1976270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DBDC-52CF-44D4-4ABD-DC666F228657}"/>
              </a:ext>
            </a:extLst>
          </p:cNvPr>
          <p:cNvSpPr>
            <a:spLocks noGrp="1"/>
          </p:cNvSpPr>
          <p:nvPr>
            <p:ph type="title"/>
          </p:nvPr>
        </p:nvSpPr>
        <p:spPr/>
        <p:txBody>
          <a:bodyPr/>
          <a:lstStyle/>
          <a:p>
            <a:r>
              <a:rPr lang="en-US" dirty="0" err="1"/>
              <a:t>Transmissiesnelheden</a:t>
            </a:r>
            <a:endParaRPr lang="LID4096" dirty="0"/>
          </a:p>
        </p:txBody>
      </p:sp>
      <p:sp>
        <p:nvSpPr>
          <p:cNvPr id="3" name="Content Placeholder 2">
            <a:extLst>
              <a:ext uri="{FF2B5EF4-FFF2-40B4-BE49-F238E27FC236}">
                <a16:creationId xmlns:a16="http://schemas.microsoft.com/office/drawing/2014/main" id="{DAF97353-AB05-31B0-C463-1A28B880E9C0}"/>
              </a:ext>
            </a:extLst>
          </p:cNvPr>
          <p:cNvSpPr>
            <a:spLocks noGrp="1"/>
          </p:cNvSpPr>
          <p:nvPr>
            <p:ph idx="1"/>
          </p:nvPr>
        </p:nvSpPr>
        <p:spPr/>
        <p:txBody>
          <a:bodyPr>
            <a:normAutofit/>
          </a:bodyPr>
          <a:lstStyle/>
          <a:p>
            <a:r>
              <a:rPr lang="en-US" sz="4000" dirty="0"/>
              <a:t>Bps -&gt; bits per </a:t>
            </a:r>
            <a:r>
              <a:rPr lang="en-US" sz="4000" dirty="0" err="1"/>
              <a:t>seconde</a:t>
            </a:r>
            <a:endParaRPr lang="en-US" sz="4000" dirty="0"/>
          </a:p>
          <a:p>
            <a:r>
              <a:rPr lang="en-US" sz="4000" dirty="0"/>
              <a:t>Kbps -&gt; kilobits per </a:t>
            </a:r>
            <a:r>
              <a:rPr lang="en-US" sz="4000" dirty="0" err="1"/>
              <a:t>seconde</a:t>
            </a:r>
            <a:endParaRPr lang="en-US" sz="4000" dirty="0"/>
          </a:p>
          <a:p>
            <a:r>
              <a:rPr lang="en-US" sz="4000" dirty="0"/>
              <a:t>Mbps -&gt; megabits per </a:t>
            </a:r>
            <a:r>
              <a:rPr lang="en-US" sz="4000" dirty="0" err="1"/>
              <a:t>seconde</a:t>
            </a:r>
            <a:endParaRPr lang="en-US" sz="4000" dirty="0"/>
          </a:p>
          <a:p>
            <a:r>
              <a:rPr lang="en-US" sz="4000" dirty="0"/>
              <a:t>Gbps -&gt; gigabits per </a:t>
            </a:r>
            <a:r>
              <a:rPr lang="en-US" sz="4000" dirty="0" err="1"/>
              <a:t>seconde</a:t>
            </a:r>
            <a:endParaRPr lang="LID4096" sz="4000" dirty="0"/>
          </a:p>
        </p:txBody>
      </p:sp>
    </p:spTree>
    <p:extLst>
      <p:ext uri="{BB962C8B-B14F-4D97-AF65-F5344CB8AC3E}">
        <p14:creationId xmlns:p14="http://schemas.microsoft.com/office/powerpoint/2010/main" val="18418495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20">
            <a:extLst>
              <a:ext uri="{FF2B5EF4-FFF2-40B4-BE49-F238E27FC236}">
                <a16:creationId xmlns:a16="http://schemas.microsoft.com/office/drawing/2014/main" id="{04474DB5-8458-FD24-BABF-D986E53969E1}"/>
              </a:ext>
            </a:extLst>
          </p:cNvPr>
          <p:cNvSpPr/>
          <p:nvPr/>
        </p:nvSpPr>
        <p:spPr>
          <a:xfrm>
            <a:off x="640080" y="2572225"/>
            <a:ext cx="3358147" cy="8261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4600" dirty="0" err="1">
                <a:solidFill>
                  <a:schemeClr val="tx1"/>
                </a:solidFill>
                <a:latin typeface="+mj-lt"/>
              </a:rPr>
              <a:t>bandbreedte</a:t>
            </a:r>
            <a:endParaRPr lang="en-US" sz="4600" dirty="0">
              <a:solidFill>
                <a:schemeClr val="tx1"/>
              </a:solidFill>
              <a:latin typeface="+mj-lt"/>
            </a:endParaRPr>
          </a:p>
        </p:txBody>
      </p:sp>
      <p:pic>
        <p:nvPicPr>
          <p:cNvPr id="5" name="Afbeelding 13">
            <a:extLst>
              <a:ext uri="{FF2B5EF4-FFF2-40B4-BE49-F238E27FC236}">
                <a16:creationId xmlns:a16="http://schemas.microsoft.com/office/drawing/2014/main" id="{D13113F2-FCF8-C0ED-5D67-109851F46E9E}"/>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4909038" y="1141363"/>
            <a:ext cx="6100592" cy="3416886"/>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6" name="Linkeraccolade 1">
            <a:extLst>
              <a:ext uri="{FF2B5EF4-FFF2-40B4-BE49-F238E27FC236}">
                <a16:creationId xmlns:a16="http://schemas.microsoft.com/office/drawing/2014/main" id="{83BD9317-6F90-9544-97FC-2E8C7DA99490}"/>
              </a:ext>
            </a:extLst>
          </p:cNvPr>
          <p:cNvSpPr/>
          <p:nvPr/>
        </p:nvSpPr>
        <p:spPr>
          <a:xfrm>
            <a:off x="4221576" y="1583630"/>
            <a:ext cx="464113" cy="2803358"/>
          </a:xfrm>
          <a:prstGeom prst="lef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nl-BE"/>
          </a:p>
        </p:txBody>
      </p:sp>
      <p:sp>
        <p:nvSpPr>
          <p:cNvPr id="7" name="Rechthoek 15">
            <a:extLst>
              <a:ext uri="{FF2B5EF4-FFF2-40B4-BE49-F238E27FC236}">
                <a16:creationId xmlns:a16="http://schemas.microsoft.com/office/drawing/2014/main" id="{7B0C6AFA-CEC8-BE35-D633-C9707A306185}"/>
              </a:ext>
            </a:extLst>
          </p:cNvPr>
          <p:cNvSpPr/>
          <p:nvPr/>
        </p:nvSpPr>
        <p:spPr>
          <a:xfrm>
            <a:off x="180998" y="5303553"/>
            <a:ext cx="11830004" cy="8261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4600" dirty="0">
                <a:solidFill>
                  <a:schemeClr val="tx1"/>
                </a:solidFill>
                <a:latin typeface="+mj-lt"/>
              </a:rPr>
              <a:t>Hz – KHz - MHz</a:t>
            </a:r>
          </a:p>
        </p:txBody>
      </p:sp>
    </p:spTree>
    <p:extLst>
      <p:ext uri="{BB962C8B-B14F-4D97-AF65-F5344CB8AC3E}">
        <p14:creationId xmlns:p14="http://schemas.microsoft.com/office/powerpoint/2010/main" val="154286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20">
            <a:extLst>
              <a:ext uri="{FF2B5EF4-FFF2-40B4-BE49-F238E27FC236}">
                <a16:creationId xmlns:a16="http://schemas.microsoft.com/office/drawing/2014/main" id="{6EA56282-066F-E68D-3DD7-8946B40C4534}"/>
              </a:ext>
            </a:extLst>
          </p:cNvPr>
          <p:cNvSpPr/>
          <p:nvPr/>
        </p:nvSpPr>
        <p:spPr>
          <a:xfrm>
            <a:off x="1033927" y="2348705"/>
            <a:ext cx="9802982" cy="8261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4600" dirty="0" err="1">
                <a:solidFill>
                  <a:schemeClr val="tx1"/>
                </a:solidFill>
                <a:latin typeface="+mj-lt"/>
              </a:rPr>
              <a:t>bandbreedte</a:t>
            </a:r>
            <a:r>
              <a:rPr lang="en-US" sz="4600" dirty="0">
                <a:solidFill>
                  <a:schemeClr val="tx1"/>
                </a:solidFill>
                <a:latin typeface="+mj-lt"/>
              </a:rPr>
              <a:t> = constant</a:t>
            </a:r>
          </a:p>
        </p:txBody>
      </p:sp>
      <p:sp>
        <p:nvSpPr>
          <p:cNvPr id="5" name="Rechthoek 15">
            <a:extLst>
              <a:ext uri="{FF2B5EF4-FFF2-40B4-BE49-F238E27FC236}">
                <a16:creationId xmlns:a16="http://schemas.microsoft.com/office/drawing/2014/main" id="{2D522095-46D4-5FBB-57D3-138A528ACB61}"/>
              </a:ext>
            </a:extLst>
          </p:cNvPr>
          <p:cNvSpPr/>
          <p:nvPr/>
        </p:nvSpPr>
        <p:spPr>
          <a:xfrm>
            <a:off x="1033926" y="4163468"/>
            <a:ext cx="9802985" cy="8261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4600" dirty="0" err="1">
                <a:solidFill>
                  <a:schemeClr val="tx1"/>
                </a:solidFill>
                <a:latin typeface="+mj-lt"/>
              </a:rPr>
              <a:t>doorvoersnelheid</a:t>
            </a:r>
            <a:r>
              <a:rPr lang="en-US" sz="4600" dirty="0">
                <a:solidFill>
                  <a:schemeClr val="tx1"/>
                </a:solidFill>
                <a:latin typeface="+mj-lt"/>
              </a:rPr>
              <a:t> = </a:t>
            </a:r>
            <a:r>
              <a:rPr lang="en-US" sz="4600" dirty="0" err="1">
                <a:solidFill>
                  <a:schemeClr val="tx1"/>
                </a:solidFill>
                <a:latin typeface="+mj-lt"/>
              </a:rPr>
              <a:t>variabel</a:t>
            </a:r>
            <a:endParaRPr lang="en-US" sz="4600" dirty="0">
              <a:solidFill>
                <a:schemeClr val="tx1"/>
              </a:solidFill>
              <a:latin typeface="+mj-lt"/>
            </a:endParaRPr>
          </a:p>
        </p:txBody>
      </p:sp>
    </p:spTree>
    <p:extLst>
      <p:ext uri="{BB962C8B-B14F-4D97-AF65-F5344CB8AC3E}">
        <p14:creationId xmlns:p14="http://schemas.microsoft.com/office/powerpoint/2010/main" val="40706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8">
            <a:extLst>
              <a:ext uri="{FF2B5EF4-FFF2-40B4-BE49-F238E27FC236}">
                <a16:creationId xmlns:a16="http://schemas.microsoft.com/office/drawing/2014/main" id="{A2DDF145-A885-EC23-57F8-3952EE86A32B}"/>
              </a:ext>
            </a:extLst>
          </p:cNvPr>
          <p:cNvSpPr/>
          <p:nvPr/>
        </p:nvSpPr>
        <p:spPr>
          <a:xfrm>
            <a:off x="1467185" y="2186413"/>
            <a:ext cx="2817394" cy="69299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4600" dirty="0">
                <a:solidFill>
                  <a:schemeClr val="tx1"/>
                </a:solidFill>
                <a:latin typeface="Barlow Condensed Medium" panose="00000606000000000000" pitchFamily="2" charset="0"/>
              </a:rPr>
              <a:t>baseband</a:t>
            </a:r>
          </a:p>
        </p:txBody>
      </p:sp>
      <p:pic>
        <p:nvPicPr>
          <p:cNvPr id="5" name="Afbeelding 9">
            <a:extLst>
              <a:ext uri="{FF2B5EF4-FFF2-40B4-BE49-F238E27FC236}">
                <a16:creationId xmlns:a16="http://schemas.microsoft.com/office/drawing/2014/main" id="{1BB248CB-BC90-A3B4-98D2-38CDB93440E7}"/>
              </a:ext>
            </a:extLst>
          </p:cNvPr>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4380832" y="1266454"/>
            <a:ext cx="6903118" cy="2275440"/>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6" name="Rechthoek 12">
            <a:extLst>
              <a:ext uri="{FF2B5EF4-FFF2-40B4-BE49-F238E27FC236}">
                <a16:creationId xmlns:a16="http://schemas.microsoft.com/office/drawing/2014/main" id="{FFA64838-46FD-E1A6-D350-8152A7B5C379}"/>
              </a:ext>
            </a:extLst>
          </p:cNvPr>
          <p:cNvSpPr/>
          <p:nvPr/>
        </p:nvSpPr>
        <p:spPr>
          <a:xfrm>
            <a:off x="1358900" y="4862556"/>
            <a:ext cx="2817394" cy="55017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4600" dirty="0">
                <a:solidFill>
                  <a:schemeClr val="tx1"/>
                </a:solidFill>
                <a:latin typeface="Barlow Condensed Medium" panose="00000606000000000000" pitchFamily="2" charset="0"/>
              </a:rPr>
              <a:t>broadband</a:t>
            </a:r>
          </a:p>
        </p:txBody>
      </p:sp>
      <p:pic>
        <p:nvPicPr>
          <p:cNvPr id="7" name="Afbeelding 13">
            <a:extLst>
              <a:ext uri="{FF2B5EF4-FFF2-40B4-BE49-F238E27FC236}">
                <a16:creationId xmlns:a16="http://schemas.microsoft.com/office/drawing/2014/main" id="{C81F0A5F-5A89-B54E-217D-BBC583FB2A33}"/>
              </a:ext>
            </a:extLst>
          </p:cNvPr>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4284579" y="3912945"/>
            <a:ext cx="6903118" cy="2275440"/>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8" name="Rechthoek 1">
            <a:extLst>
              <a:ext uri="{FF2B5EF4-FFF2-40B4-BE49-F238E27FC236}">
                <a16:creationId xmlns:a16="http://schemas.microsoft.com/office/drawing/2014/main" id="{AA7C7A84-9DFA-3911-9A32-7A3BBA21D3A6}"/>
              </a:ext>
            </a:extLst>
          </p:cNvPr>
          <p:cNvSpPr/>
          <p:nvPr/>
        </p:nvSpPr>
        <p:spPr>
          <a:xfrm>
            <a:off x="4380832" y="2186413"/>
            <a:ext cx="6806865" cy="60357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9" name="Rechthoek 18">
            <a:extLst>
              <a:ext uri="{FF2B5EF4-FFF2-40B4-BE49-F238E27FC236}">
                <a16:creationId xmlns:a16="http://schemas.microsoft.com/office/drawing/2014/main" id="{61A36F1A-6779-FBE9-9192-58D3AB2710D2}"/>
              </a:ext>
            </a:extLst>
          </p:cNvPr>
          <p:cNvSpPr/>
          <p:nvPr/>
        </p:nvSpPr>
        <p:spPr>
          <a:xfrm>
            <a:off x="4384342" y="4453167"/>
            <a:ext cx="6806865" cy="2359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10" name="Rechthoek 19">
            <a:extLst>
              <a:ext uri="{FF2B5EF4-FFF2-40B4-BE49-F238E27FC236}">
                <a16:creationId xmlns:a16="http://schemas.microsoft.com/office/drawing/2014/main" id="{37BA7B60-AC75-65B1-627A-8C3EB2C5D507}"/>
              </a:ext>
            </a:extLst>
          </p:cNvPr>
          <p:cNvSpPr/>
          <p:nvPr/>
        </p:nvSpPr>
        <p:spPr>
          <a:xfrm>
            <a:off x="4384342" y="4850335"/>
            <a:ext cx="6806865" cy="2359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11" name="Rechthoek 21">
            <a:extLst>
              <a:ext uri="{FF2B5EF4-FFF2-40B4-BE49-F238E27FC236}">
                <a16:creationId xmlns:a16="http://schemas.microsoft.com/office/drawing/2014/main" id="{389A6AF5-C20E-670D-2152-233955F04D48}"/>
              </a:ext>
            </a:extLst>
          </p:cNvPr>
          <p:cNvSpPr/>
          <p:nvPr/>
        </p:nvSpPr>
        <p:spPr>
          <a:xfrm>
            <a:off x="4384342" y="5248746"/>
            <a:ext cx="6806865" cy="2359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12" name="Rechthoek 22">
            <a:extLst>
              <a:ext uri="{FF2B5EF4-FFF2-40B4-BE49-F238E27FC236}">
                <a16:creationId xmlns:a16="http://schemas.microsoft.com/office/drawing/2014/main" id="{5EEC414F-DDCF-E557-336C-8741AA9EB2A1}"/>
              </a:ext>
            </a:extLst>
          </p:cNvPr>
          <p:cNvSpPr/>
          <p:nvPr/>
        </p:nvSpPr>
        <p:spPr>
          <a:xfrm>
            <a:off x="4336215" y="5644671"/>
            <a:ext cx="6806865" cy="2359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13" name="Rechthoek 1">
            <a:extLst>
              <a:ext uri="{FF2B5EF4-FFF2-40B4-BE49-F238E27FC236}">
                <a16:creationId xmlns:a16="http://schemas.microsoft.com/office/drawing/2014/main" id="{3F24AAEF-5A75-16B9-9B62-E50E0740CA95}"/>
              </a:ext>
            </a:extLst>
          </p:cNvPr>
          <p:cNvSpPr/>
          <p:nvPr/>
        </p:nvSpPr>
        <p:spPr>
          <a:xfrm>
            <a:off x="4392864" y="2275828"/>
            <a:ext cx="6806865" cy="603576"/>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14" name="Rechthoek 18">
            <a:extLst>
              <a:ext uri="{FF2B5EF4-FFF2-40B4-BE49-F238E27FC236}">
                <a16:creationId xmlns:a16="http://schemas.microsoft.com/office/drawing/2014/main" id="{08662872-CAF9-D33B-B9B4-B2D002A126BD}"/>
              </a:ext>
            </a:extLst>
          </p:cNvPr>
          <p:cNvSpPr/>
          <p:nvPr/>
        </p:nvSpPr>
        <p:spPr>
          <a:xfrm>
            <a:off x="4396374" y="4542582"/>
            <a:ext cx="6806865" cy="235938"/>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15" name="Rechthoek 19">
            <a:extLst>
              <a:ext uri="{FF2B5EF4-FFF2-40B4-BE49-F238E27FC236}">
                <a16:creationId xmlns:a16="http://schemas.microsoft.com/office/drawing/2014/main" id="{06AC6615-BF8E-BB1A-0769-22C138FC748F}"/>
              </a:ext>
            </a:extLst>
          </p:cNvPr>
          <p:cNvSpPr/>
          <p:nvPr/>
        </p:nvSpPr>
        <p:spPr>
          <a:xfrm>
            <a:off x="4396374" y="4939750"/>
            <a:ext cx="6806865" cy="235938"/>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16" name="Rechthoek 21">
            <a:extLst>
              <a:ext uri="{FF2B5EF4-FFF2-40B4-BE49-F238E27FC236}">
                <a16:creationId xmlns:a16="http://schemas.microsoft.com/office/drawing/2014/main" id="{940C3058-2808-E9C1-C616-DA11F0D561AE}"/>
              </a:ext>
            </a:extLst>
          </p:cNvPr>
          <p:cNvSpPr/>
          <p:nvPr/>
        </p:nvSpPr>
        <p:spPr>
          <a:xfrm>
            <a:off x="4396374" y="5338161"/>
            <a:ext cx="6806865" cy="235938"/>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17" name="Rechthoek 22">
            <a:extLst>
              <a:ext uri="{FF2B5EF4-FFF2-40B4-BE49-F238E27FC236}">
                <a16:creationId xmlns:a16="http://schemas.microsoft.com/office/drawing/2014/main" id="{55679A7E-9ED1-CEAB-1C49-5BE4BCBDB6ED}"/>
              </a:ext>
            </a:extLst>
          </p:cNvPr>
          <p:cNvSpPr/>
          <p:nvPr/>
        </p:nvSpPr>
        <p:spPr>
          <a:xfrm>
            <a:off x="4348247" y="5734086"/>
            <a:ext cx="6806865" cy="235938"/>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2088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par>
                          <p:cTn id="23" fill="hold">
                            <p:stCondLst>
                              <p:cond delay="500"/>
                            </p:stCondLst>
                            <p:childTnLst>
                              <p:par>
                                <p:cTn id="24" presetID="10" presetClass="entr" presetSubtype="0" fill="hold" grpId="0" nodeType="afterEffect" nodePh="1">
                                  <p:stCondLst>
                                    <p:cond delay="0"/>
                                  </p:stCondLst>
                                  <p:endCondLst>
                                    <p:cond evt="begin" delay="0">
                                      <p:tn val="24"/>
                                    </p:cond>
                                  </p:end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par>
                          <p:cTn id="27" fill="hold">
                            <p:stCondLst>
                              <p:cond delay="1000"/>
                            </p:stCondLst>
                            <p:childTnLst>
                              <p:par>
                                <p:cTn id="28" presetID="10" presetClass="entr" presetSubtype="0" fill="hold" grpId="0" nodeType="afterEffect" nodePh="1">
                                  <p:stCondLst>
                                    <p:cond delay="0"/>
                                  </p:stCondLst>
                                  <p:endCondLst>
                                    <p:cond evt="begin" delay="0">
                                      <p:tn val="28"/>
                                    </p:cond>
                                  </p:end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par>
                          <p:cTn id="31" fill="hold">
                            <p:stCondLst>
                              <p:cond delay="1500"/>
                            </p:stCondLst>
                            <p:childTnLst>
                              <p:par>
                                <p:cTn id="32" presetID="10" presetClass="entr" presetSubtype="0" fill="hold" grpId="0" nodeType="afterEffect" nodePh="1">
                                  <p:stCondLst>
                                    <p:cond delay="0"/>
                                  </p:stCondLst>
                                  <p:endCondLst>
                                    <p:cond evt="begin" delay="0">
                                      <p:tn val="32"/>
                                    </p:cond>
                                  </p:end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2000"/>
                            </p:stCondLst>
                            <p:childTnLst>
                              <p:par>
                                <p:cTn id="36" presetID="10" presetClass="entr" presetSubtype="0" fill="hold" grpId="0" nodeType="afterEffect" nodePh="1">
                                  <p:stCondLst>
                                    <p:cond delay="0"/>
                                  </p:stCondLst>
                                  <p:endCondLst>
                                    <p:cond evt="begin" delay="0">
                                      <p:tn val="36"/>
                                    </p:cond>
                                  </p:end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par>
                          <p:cTn id="47" fill="hold">
                            <p:stCondLst>
                              <p:cond delay="3500"/>
                            </p:stCondLst>
                            <p:childTnLst>
                              <p:par>
                                <p:cTn id="48" presetID="10" presetClass="entr" presetSubtype="0"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par>
                          <p:cTn id="51" fill="hold">
                            <p:stCondLst>
                              <p:cond delay="4000"/>
                            </p:stCondLst>
                            <p:childTnLst>
                              <p:par>
                                <p:cTn id="52" presetID="10" presetClass="entr" presetSubtype="0"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par>
                          <p:cTn id="55" fill="hold">
                            <p:stCondLst>
                              <p:cond delay="4500"/>
                            </p:stCondLst>
                            <p:childTnLst>
                              <p:par>
                                <p:cTn id="56" presetID="10"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1" grpId="0"/>
      <p:bldP spid="12" grpId="0"/>
      <p:bldP spid="13" grpId="0" animBg="1"/>
      <p:bldP spid="14" grpId="0" animBg="1"/>
      <p:bldP spid="15" grpId="0" animBg="1"/>
      <p:bldP spid="16" grpId="0" animBg="1"/>
      <p:bldP spid="1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1480</TotalTime>
  <Words>2614</Words>
  <Application>Microsoft Office PowerPoint</Application>
  <PresentationFormat>Widescreen</PresentationFormat>
  <Paragraphs>229</Paragraphs>
  <Slides>48</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Aptos Display</vt:lpstr>
      <vt:lpstr>Arial</vt:lpstr>
      <vt:lpstr>Barlow Condensed Medium</vt:lpstr>
      <vt:lpstr>Wingdings</vt:lpstr>
      <vt:lpstr>Office Theme</vt:lpstr>
      <vt:lpstr>DataCommunicatie</vt:lpstr>
      <vt:lpstr>PowerPoint Presentation</vt:lpstr>
      <vt:lpstr>Doelen Computernetwerken</vt:lpstr>
      <vt:lpstr>Communicatie</vt:lpstr>
      <vt:lpstr>Communicatie</vt:lpstr>
      <vt:lpstr>Communicatie</vt:lpstr>
      <vt:lpstr>Simplex</vt:lpstr>
      <vt:lpstr>Simplex</vt:lpstr>
      <vt:lpstr>Half-duplex</vt:lpstr>
      <vt:lpstr>Half-duplex</vt:lpstr>
      <vt:lpstr>Duplex</vt:lpstr>
      <vt:lpstr>Duplex</vt:lpstr>
      <vt:lpstr>PowerPoint Presentation</vt:lpstr>
      <vt:lpstr>PowerPoint Presentation</vt:lpstr>
      <vt:lpstr>Casting</vt:lpstr>
      <vt:lpstr>Unicast</vt:lpstr>
      <vt:lpstr>Unicast</vt:lpstr>
      <vt:lpstr>Multicast</vt:lpstr>
      <vt:lpstr>Multicast</vt:lpstr>
      <vt:lpstr>Broadcast</vt:lpstr>
      <vt:lpstr>Broadcast</vt:lpstr>
      <vt:lpstr>Anycast</vt:lpstr>
      <vt:lpstr>Anycast</vt:lpstr>
      <vt:lpstr>Telecommunicatienetwerken</vt:lpstr>
      <vt:lpstr>Telecommunicatienetwerken</vt:lpstr>
      <vt:lpstr>1. Op basis van geografische spreiding</vt:lpstr>
      <vt:lpstr>2. Op basis van hiërarchie tussen de netwerkcomponenten</vt:lpstr>
      <vt:lpstr>3. Op basis van schakeltechniek</vt:lpstr>
      <vt:lpstr>4. Op basis van Datacommunicatietechnologie</vt:lpstr>
      <vt:lpstr>Van analoog naar binair</vt:lpstr>
      <vt:lpstr>Analoog signaal</vt:lpstr>
      <vt:lpstr>Digitaal signaal</vt:lpstr>
      <vt:lpstr>Binair signaal</vt:lpstr>
      <vt:lpstr>Modulatie</vt:lpstr>
      <vt:lpstr>Moduleren</vt:lpstr>
      <vt:lpstr>Demoduleren</vt:lpstr>
      <vt:lpstr>Modem</vt:lpstr>
      <vt:lpstr>Gegevensoverdracht</vt:lpstr>
      <vt:lpstr>Parallelle gegevensoverdracht</vt:lpstr>
      <vt:lpstr>Parallelle gegevensoverdracht</vt:lpstr>
      <vt:lpstr>Seriële gegevensoverdracht</vt:lpstr>
      <vt:lpstr>Beëindigen van verzending</vt:lpstr>
      <vt:lpstr>Serieel of Parallel?</vt:lpstr>
      <vt:lpstr>Transmissiesnelheden</vt:lpstr>
      <vt:lpstr>Transmissiesnelheden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Vital Vercleyen 202444521</dc:creator>
  <cp:lastModifiedBy>Vital Vercleyen | Benedictuspoort</cp:lastModifiedBy>
  <cp:revision>19</cp:revision>
  <dcterms:created xsi:type="dcterms:W3CDTF">2025-08-29T14:06:02Z</dcterms:created>
  <dcterms:modified xsi:type="dcterms:W3CDTF">2025-11-25T07:46:39Z</dcterms:modified>
</cp:coreProperties>
</file>